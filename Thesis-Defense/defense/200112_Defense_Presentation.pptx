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73" r:id="rId2"/>
    <p:sldId id="257" r:id="rId3"/>
    <p:sldId id="258" r:id="rId4"/>
    <p:sldId id="259" r:id="rId5"/>
    <p:sldId id="274" r:id="rId6"/>
    <p:sldId id="276" r:id="rId7"/>
    <p:sldId id="260" r:id="rId8"/>
    <p:sldId id="277" r:id="rId9"/>
    <p:sldId id="261" r:id="rId10"/>
    <p:sldId id="262" r:id="rId11"/>
    <p:sldId id="278" r:id="rId12"/>
    <p:sldId id="263" r:id="rId13"/>
    <p:sldId id="279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80" r:id="rId22"/>
    <p:sldId id="272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7377"/>
    <a:srgbClr val="1B3A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75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3A6B"/>
                </a:solidFill>
                <a:latin typeface="Arial"/>
              </a:defRPr>
            </a:pPr>
            <a:r>
              <a:rPr lang="en-US" sz="1200" b="0" i="0" u="none" strike="noStrike">
                <a:solidFill>
                  <a:srgbClr val="1B3A6B"/>
                </a:solidFill>
                <a:latin typeface="Arial"/>
              </a:rPr>
              <a:t>Fleet Composition (100 Variants Total)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Vehicles</c:v>
                </c:pt>
              </c:strCache>
            </c:strRef>
          </c:tx>
          <c:spPr>
            <a:solidFill>
              <a:srgbClr val="0D7377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50E3-4998-AF55-150A25AF2C4A}"/>
              </c:ext>
            </c:extLst>
          </c:dPt>
          <c:dPt>
            <c:idx val="1"/>
            <c:invertIfNegative val="0"/>
            <c:bubble3D val="0"/>
            <c:spPr>
              <a:solidFill>
                <a:srgbClr val="1B3A6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0E3-4998-AF55-150A25AF2C4A}"/>
              </c:ext>
            </c:extLst>
          </c:dPt>
          <c:dPt>
            <c:idx val="2"/>
            <c:invertIfNegative val="0"/>
            <c:bubble3D val="0"/>
            <c:spPr>
              <a:solidFill>
                <a:srgbClr val="7BA7B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0E3-4998-AF55-150A25AF2C4A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Easy Bike</c:v>
                </c:pt>
                <c:pt idx="1">
                  <c:v>E-Rickshaw</c:v>
                </c:pt>
                <c:pt idx="2">
                  <c:v>E-Van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33</c:v>
                </c:pt>
                <c:pt idx="2">
                  <c:v>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0E3-4998-AF55-150A25AF2C4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160750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9835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6509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5194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8063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3468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0948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54803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14004" y="2109220"/>
            <a:ext cx="832104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0" y="2897266"/>
            <a:ext cx="9144000" cy="2246234"/>
          </a:xfrm>
          <a:prstGeom prst="rect">
            <a:avLst/>
          </a:prstGeom>
          <a:solidFill>
            <a:srgbClr val="0F2447"/>
          </a:solidFill>
          <a:ln w="12700">
            <a:solidFill>
              <a:srgbClr val="0F2447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8147436" y="4700016"/>
            <a:ext cx="997528" cy="4434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April 2026</a:t>
            </a:r>
            <a:endParaRPr lang="en-US" sz="1100" dirty="0">
              <a:solidFill>
                <a:schemeClr val="bg1"/>
              </a:solidFill>
            </a:endParaRPr>
          </a:p>
        </p:txBody>
      </p:sp>
      <p:pic>
        <p:nvPicPr>
          <p:cNvPr id="7" name="object 4">
            <a:extLst>
              <a:ext uri="{FF2B5EF4-FFF2-40B4-BE49-F238E27FC236}">
                <a16:creationId xmlns:a16="http://schemas.microsoft.com/office/drawing/2014/main" id="{7D0D5F5B-19B9-7784-4289-8D5614ED3073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496" y="347472"/>
            <a:ext cx="1173232" cy="1193809"/>
          </a:xfrm>
          <a:prstGeom prst="rect">
            <a:avLst/>
          </a:prstGeom>
        </p:spPr>
      </p:pic>
      <p:sp>
        <p:nvSpPr>
          <p:cNvPr id="8" name="object 5" descr="$PPTXTitle">
            <a:extLst>
              <a:ext uri="{FF2B5EF4-FFF2-40B4-BE49-F238E27FC236}">
                <a16:creationId xmlns:a16="http://schemas.microsoft.com/office/drawing/2014/main" id="{F40F0614-575B-72C8-0718-7BBFD75D94BF}"/>
              </a:ext>
            </a:extLst>
          </p:cNvPr>
          <p:cNvSpPr txBox="1">
            <a:spLocks/>
          </p:cNvSpPr>
          <p:nvPr/>
        </p:nvSpPr>
        <p:spPr>
          <a:xfrm>
            <a:off x="1677826" y="425196"/>
            <a:ext cx="9335110" cy="90941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Cambria"/>
                <a:ea typeface="+mj-ea"/>
                <a:cs typeface="Cambria"/>
              </a:defRPr>
            </a:lvl1pPr>
          </a:lstStyle>
          <a:p>
            <a:pPr marL="12700" marR="5080">
              <a:lnSpc>
                <a:spcPct val="126299"/>
              </a:lnSpc>
              <a:spcBef>
                <a:spcPts val="95"/>
              </a:spcBef>
            </a:pPr>
            <a:r>
              <a:rPr lang="en-US" sz="2400" dirty="0" err="1"/>
              <a:t>Jashore</a:t>
            </a:r>
            <a:r>
              <a:rPr lang="en-US" sz="2400" spc="-50" dirty="0"/>
              <a:t> </a:t>
            </a:r>
            <a:r>
              <a:rPr lang="en-US" sz="2400" dirty="0"/>
              <a:t>University</a:t>
            </a:r>
            <a:r>
              <a:rPr lang="en-US" sz="2400" spc="-65" dirty="0"/>
              <a:t> </a:t>
            </a:r>
            <a:r>
              <a:rPr lang="en-US" sz="2400" dirty="0"/>
              <a:t>of</a:t>
            </a:r>
            <a:r>
              <a:rPr lang="en-US" sz="2400" spc="-45" dirty="0"/>
              <a:t> </a:t>
            </a:r>
            <a:r>
              <a:rPr lang="en-US" sz="2400" dirty="0"/>
              <a:t>Science</a:t>
            </a:r>
            <a:r>
              <a:rPr lang="en-US" sz="2400" spc="-60" dirty="0"/>
              <a:t> </a:t>
            </a:r>
            <a:r>
              <a:rPr lang="en-US" sz="2400" dirty="0"/>
              <a:t>and</a:t>
            </a:r>
            <a:r>
              <a:rPr lang="en-US" sz="2400" spc="-45" dirty="0"/>
              <a:t> </a:t>
            </a:r>
            <a:r>
              <a:rPr lang="en-US" sz="2400" spc="-10" dirty="0"/>
              <a:t>Technology </a:t>
            </a:r>
          </a:p>
          <a:p>
            <a:pPr marL="12700" marR="5080">
              <a:lnSpc>
                <a:spcPct val="126299"/>
              </a:lnSpc>
              <a:spcBef>
                <a:spcPts val="95"/>
              </a:spcBef>
            </a:pPr>
            <a:r>
              <a:rPr lang="en-US" sz="2400" dirty="0"/>
              <a:t>Department</a:t>
            </a:r>
            <a:r>
              <a:rPr lang="en-US" sz="2400" spc="-40" dirty="0"/>
              <a:t> </a:t>
            </a:r>
            <a:r>
              <a:rPr lang="en-US" sz="2400" dirty="0"/>
              <a:t>of</a:t>
            </a:r>
            <a:r>
              <a:rPr lang="en-US" sz="2400" spc="-30" dirty="0"/>
              <a:t> </a:t>
            </a:r>
            <a:r>
              <a:rPr lang="en-US" sz="2400" dirty="0"/>
              <a:t>Computer</a:t>
            </a:r>
            <a:r>
              <a:rPr lang="en-US" sz="2400" spc="-55" dirty="0"/>
              <a:t> </a:t>
            </a:r>
            <a:r>
              <a:rPr lang="en-US" sz="2400" dirty="0"/>
              <a:t>Science</a:t>
            </a:r>
            <a:r>
              <a:rPr lang="en-US" sz="2400" spc="-30" dirty="0"/>
              <a:t> </a:t>
            </a:r>
            <a:r>
              <a:rPr lang="en-US" sz="2400" dirty="0"/>
              <a:t>and</a:t>
            </a:r>
            <a:r>
              <a:rPr lang="en-US" sz="2400" spc="-40" dirty="0"/>
              <a:t> </a:t>
            </a:r>
            <a:r>
              <a:rPr lang="en-US" sz="2400" spc="-10" dirty="0"/>
              <a:t>Engineering</a:t>
            </a:r>
          </a:p>
        </p:txBody>
      </p:sp>
      <p:sp>
        <p:nvSpPr>
          <p:cNvPr id="13" name="Text 4">
            <a:extLst>
              <a:ext uri="{FF2B5EF4-FFF2-40B4-BE49-F238E27FC236}">
                <a16:creationId xmlns:a16="http://schemas.microsoft.com/office/drawing/2014/main" id="{3137A86A-ED96-4BFE-5BA3-506413EB0514}"/>
              </a:ext>
            </a:extLst>
          </p:cNvPr>
          <p:cNvSpPr/>
          <p:nvPr/>
        </p:nvSpPr>
        <p:spPr>
          <a:xfrm>
            <a:off x="660865" y="1507379"/>
            <a:ext cx="8321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EV Charging Load Demand Prediction</a:t>
            </a:r>
            <a:endParaRPr lang="en-US" sz="2800" dirty="0"/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EDC0CC80-426C-BD80-3C6A-003DCC11E890}"/>
              </a:ext>
            </a:extLst>
          </p:cNvPr>
          <p:cNvSpPr/>
          <p:nvPr/>
        </p:nvSpPr>
        <p:spPr>
          <a:xfrm>
            <a:off x="660865" y="2129171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Using Machine Learning in a SUMO-Based Simulation Environment</a:t>
            </a:r>
            <a:endParaRPr lang="en-US" dirty="0"/>
          </a:p>
        </p:txBody>
      </p:sp>
      <p:sp>
        <p:nvSpPr>
          <p:cNvPr id="15" name="TextBox 4">
            <a:extLst>
              <a:ext uri="{FF2B5EF4-FFF2-40B4-BE49-F238E27FC236}">
                <a16:creationId xmlns:a16="http://schemas.microsoft.com/office/drawing/2014/main" id="{208A7BD8-44B7-CF06-5619-3AFF5C0C8934}"/>
              </a:ext>
            </a:extLst>
          </p:cNvPr>
          <p:cNvSpPr txBox="1"/>
          <p:nvPr/>
        </p:nvSpPr>
        <p:spPr>
          <a:xfrm>
            <a:off x="2538732" y="3024872"/>
            <a:ext cx="2282653" cy="1887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ea typeface="Roboto Bold"/>
                <a:cs typeface="Times New Roman" panose="02020603050405020304" pitchFamily="18" charset="0"/>
                <a:sym typeface="Roboto Bold"/>
              </a:rPr>
              <a:t>Supervised By: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2000" dirty="0" err="1">
                <a:solidFill>
                  <a:schemeClr val="bg1"/>
                </a:solidFill>
                <a:latin typeface="Times New Roman" panose="02020603050405020304" pitchFamily="18" charset="0"/>
                <a:ea typeface="Roboto"/>
                <a:cs typeface="Times New Roman" panose="02020603050405020304" pitchFamily="18" charset="0"/>
                <a:sym typeface="Roboto"/>
              </a:rPr>
              <a:t>Monishanker</a:t>
            </a: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ea typeface="Roboto"/>
                <a:cs typeface="Times New Roman" panose="02020603050405020304" pitchFamily="18" charset="0"/>
                <a:sym typeface="Roboto"/>
              </a:rPr>
              <a:t> Halder 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ea typeface="Roboto"/>
                <a:cs typeface="Times New Roman" panose="02020603050405020304" pitchFamily="18" charset="0"/>
                <a:sym typeface="Roboto"/>
              </a:rPr>
              <a:t>Assistant Professor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endParaRPr lang="en-US" sz="2000" dirty="0">
              <a:solidFill>
                <a:schemeClr val="bg1"/>
              </a:solidFill>
              <a:latin typeface="Times New Roman" panose="02020603050405020304" pitchFamily="18" charset="0"/>
              <a:ea typeface="Roboto"/>
              <a:cs typeface="Times New Roman" panose="02020603050405020304" pitchFamily="18" charset="0"/>
              <a:sym typeface="Roboto"/>
            </a:endParaRPr>
          </a:p>
        </p:txBody>
      </p:sp>
      <p:sp>
        <p:nvSpPr>
          <p:cNvPr id="16" name="TextBox 4">
            <a:extLst>
              <a:ext uri="{FF2B5EF4-FFF2-40B4-BE49-F238E27FC236}">
                <a16:creationId xmlns:a16="http://schemas.microsoft.com/office/drawing/2014/main" id="{AF9EDC5A-AD61-A3D6-3997-10617FF055AB}"/>
              </a:ext>
            </a:extLst>
          </p:cNvPr>
          <p:cNvSpPr txBox="1"/>
          <p:nvPr/>
        </p:nvSpPr>
        <p:spPr>
          <a:xfrm>
            <a:off x="5380556" y="2978755"/>
            <a:ext cx="2509284" cy="1887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ea typeface="Roboto Bold"/>
                <a:cs typeface="Times New Roman" panose="02020603050405020304" pitchFamily="18" charset="0"/>
                <a:sym typeface="Roboto Bold"/>
              </a:rPr>
              <a:t>Presented By: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ea typeface="Roboto"/>
                <a:cs typeface="Times New Roman" panose="02020603050405020304" pitchFamily="18" charset="0"/>
                <a:sym typeface="Roboto"/>
              </a:rPr>
              <a:t>Rakesh Biswas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ea typeface="Roboto"/>
                <a:cs typeface="Times New Roman" panose="02020603050405020304" pitchFamily="18" charset="0"/>
                <a:sym typeface="Roboto"/>
              </a:rPr>
              <a:t>ID: 200112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ea typeface="Roboto"/>
                <a:cs typeface="Times New Roman" panose="02020603050405020304" pitchFamily="18" charset="0"/>
                <a:sym typeface="Roboto"/>
              </a:rPr>
              <a:t>Session: 2020-21</a:t>
            </a:r>
          </a:p>
        </p:txBody>
      </p:sp>
    </p:spTree>
    <p:extLst>
      <p:ext uri="{BB962C8B-B14F-4D97-AF65-F5344CB8AC3E}">
        <p14:creationId xmlns:p14="http://schemas.microsoft.com/office/powerpoint/2010/main" val="41274086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Outline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115568"/>
            <a:ext cx="4251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15568"/>
            <a:ext cx="502920" cy="8046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328" y="1280160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86968" y="1188720"/>
            <a:ext cx="3593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Background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86968" y="1536192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Problem context, EV growth, Bangladesh perspective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2048256"/>
            <a:ext cx="4251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2048256"/>
            <a:ext cx="502920" cy="8046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8328" y="2212848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86968" y="2121408"/>
            <a:ext cx="3593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&amp; Objectives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6968" y="2468880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gap, goals, and research questions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20040" y="2980944"/>
            <a:ext cx="4251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" y="2980944"/>
            <a:ext cx="502920" cy="8046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8328" y="3145536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86968" y="3054096"/>
            <a:ext cx="3593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86968" y="3401568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Prior work in load modeling, ML forecasting, SUMO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0040" y="3913632"/>
            <a:ext cx="4251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0040" y="3913632"/>
            <a:ext cx="502920" cy="8046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8328" y="4078224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86968" y="3986784"/>
            <a:ext cx="3593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&amp; Simulation Setup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86968" y="4334256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SUMO environment, road network, charging stations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800600" y="1115568"/>
            <a:ext cx="40233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800600" y="1115568"/>
            <a:ext cx="502920" cy="8046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18888" y="1280160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367528" y="1188720"/>
            <a:ext cx="3593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Dataset &amp; Feature Analysis</a:t>
            </a: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367528" y="1536192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Generated dataset, correlation, feature importance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800600" y="2048256"/>
            <a:ext cx="40233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800600" y="2048256"/>
            <a:ext cx="502920" cy="8046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18888" y="2212848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367528" y="2121408"/>
            <a:ext cx="3593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ML Models &amp; Results</a:t>
            </a: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367528" y="2468880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Seven models evaluated, comparative analysis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800600" y="2980944"/>
            <a:ext cx="40233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800600" y="2980944"/>
            <a:ext cx="502920" cy="8046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18888" y="3145536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5367528" y="3054096"/>
            <a:ext cx="3593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Implications &amp; Conclusion</a:t>
            </a: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5367528" y="3401568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findings, limitations, future work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Background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2004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Why EV charging load prediction matters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115568"/>
            <a:ext cx="51206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115568"/>
            <a:ext cx="54864" cy="8046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1887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EV Growth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149961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Over 26 million EVs worldwide in 2022 (IEA). Rapid adoption reshapes power grids.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2048256"/>
            <a:ext cx="51206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2048256"/>
            <a:ext cx="54864" cy="8046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1214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Bangladesh Context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24323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Electric three-wheelers (Easy Bikes, E-Rickshaws, E-Vans) dominate urban mobility in cities like Khulna and Jashore.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2980944"/>
            <a:ext cx="51206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040" y="2980944"/>
            <a:ext cx="54864" cy="8046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05409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Pressure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57200" y="336499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Uncoordinated charging causes voltage violations, transformer overloads, and peak-hour congestion on already stressed distribution networks.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20040" y="3913632"/>
            <a:ext cx="51206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0" y="3913632"/>
            <a:ext cx="54864" cy="8046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98678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Need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7200" y="4297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Accurate spatiotemporal load prediction is essential for smart grid planning, station placement, and demand response.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577840" y="1115568"/>
            <a:ext cx="3246120" cy="380390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23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623560" y="1161288"/>
            <a:ext cx="3154680" cy="352044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5577840" y="466344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Khulna City Road Network (OSM)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&amp; Objectives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115568"/>
            <a:ext cx="8503920" cy="105156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1463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Rapidly growing EV adoption, especially electric three-wheelers in Bangladesh, creates highly dynamic and nonlinear charging load patterns. Existing approaches lack comprehensive simulation-based datasets and multi-model benchmarks tailored to developing-country urban environments.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20040" y="2331720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Objectives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320040" y="2834640"/>
            <a:ext cx="329184" cy="329184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" y="283464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27432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implement a SUMO-based EV simulation with realistic charging stations, queue management and smart rerouting logic.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20040" y="3584448"/>
            <a:ext cx="329184" cy="329184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" y="358444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" y="3493008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Implement a rule-based smart charging system based on proximity, slot availability and SOC priority.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20040" y="4334256"/>
            <a:ext cx="329184" cy="329184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8328" y="433425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31520" y="4242816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execution with </a:t>
            </a:r>
            <a:r>
              <a:rPr lang="en-US" sz="14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TraCI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846320" y="2834640"/>
            <a:ext cx="329184" cy="329184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64608" y="283464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257800" y="2676525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Generate a comprehensive ML-ready dataset capturing per-vehicle and system-level features across a 600 s simulation run.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846320" y="3584448"/>
            <a:ext cx="329184" cy="329184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64608" y="358444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257800" y="3407283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Analyze model performance using MAE, RMSE, R², MAPE, Accuracy, and Weighted F1-Score.</a:t>
            </a:r>
            <a:endParaRPr lang="en-US" sz="1400" dirty="0"/>
          </a:p>
        </p:txBody>
      </p:sp>
      <p:sp>
        <p:nvSpPr>
          <p:cNvPr id="24" name="Shape 13">
            <a:extLst>
              <a:ext uri="{FF2B5EF4-FFF2-40B4-BE49-F238E27FC236}">
                <a16:creationId xmlns:a16="http://schemas.microsoft.com/office/drawing/2014/main" id="{BCB0784F-2D38-ACF8-B4E7-B22405C5A34D}"/>
              </a:ext>
            </a:extLst>
          </p:cNvPr>
          <p:cNvSpPr/>
          <p:nvPr/>
        </p:nvSpPr>
        <p:spPr>
          <a:xfrm>
            <a:off x="4847013" y="4341182"/>
            <a:ext cx="329184" cy="329184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5" name="Text 14">
            <a:extLst>
              <a:ext uri="{FF2B5EF4-FFF2-40B4-BE49-F238E27FC236}">
                <a16:creationId xmlns:a16="http://schemas.microsoft.com/office/drawing/2014/main" id="{C1B52A45-BF20-1753-6EAE-CCA82E08E771}"/>
              </a:ext>
            </a:extLst>
          </p:cNvPr>
          <p:cNvSpPr/>
          <p:nvPr/>
        </p:nvSpPr>
        <p:spPr>
          <a:xfrm>
            <a:off x="4865301" y="434118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Text 15">
            <a:extLst>
              <a:ext uri="{FF2B5EF4-FFF2-40B4-BE49-F238E27FC236}">
                <a16:creationId xmlns:a16="http://schemas.microsoft.com/office/drawing/2014/main" id="{BD888A75-0374-1924-8A01-9EC16F0B3B05}"/>
              </a:ext>
            </a:extLst>
          </p:cNvPr>
          <p:cNvSpPr/>
          <p:nvPr/>
        </p:nvSpPr>
        <p:spPr>
          <a:xfrm>
            <a:off x="5258493" y="4240217"/>
            <a:ext cx="36465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Train &amp; evaluate 7 ML / DL models (LR, DT, RF, XGBoost, ANN, LSTM, GRU) for predicting system-level EV charging load.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1604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A54E2130-AC06-6F22-F936-21C22324D7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0891183"/>
              </p:ext>
            </p:extLst>
          </p:nvPr>
        </p:nvGraphicFramePr>
        <p:xfrm>
          <a:off x="382386" y="1235270"/>
          <a:ext cx="8503920" cy="37103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1273">
                  <a:extLst>
                    <a:ext uri="{9D8B030D-6E8A-4147-A177-3AD203B41FA5}">
                      <a16:colId xmlns:a16="http://schemas.microsoft.com/office/drawing/2014/main" val="16707812"/>
                    </a:ext>
                  </a:extLst>
                </a:gridCol>
                <a:gridCol w="1457468">
                  <a:extLst>
                    <a:ext uri="{9D8B030D-6E8A-4147-A177-3AD203B41FA5}">
                      <a16:colId xmlns:a16="http://schemas.microsoft.com/office/drawing/2014/main" val="1035030889"/>
                    </a:ext>
                  </a:extLst>
                </a:gridCol>
                <a:gridCol w="2353611">
                  <a:extLst>
                    <a:ext uri="{9D8B030D-6E8A-4147-A177-3AD203B41FA5}">
                      <a16:colId xmlns:a16="http://schemas.microsoft.com/office/drawing/2014/main" val="3836108516"/>
                    </a:ext>
                  </a:extLst>
                </a:gridCol>
                <a:gridCol w="1700784">
                  <a:extLst>
                    <a:ext uri="{9D8B030D-6E8A-4147-A177-3AD203B41FA5}">
                      <a16:colId xmlns:a16="http://schemas.microsoft.com/office/drawing/2014/main" val="3590159973"/>
                    </a:ext>
                  </a:extLst>
                </a:gridCol>
                <a:gridCol w="1700784">
                  <a:extLst>
                    <a:ext uri="{9D8B030D-6E8A-4147-A177-3AD203B41FA5}">
                      <a16:colId xmlns:a16="http://schemas.microsoft.com/office/drawing/2014/main" val="1015992786"/>
                    </a:ext>
                  </a:extLst>
                </a:gridCol>
              </a:tblGrid>
              <a:tr h="677635">
                <a:tc>
                  <a:txBody>
                    <a:bodyPr/>
                    <a:lstStyle/>
                    <a:p>
                      <a:pPr algn="ctr">
                        <a:lnSpc>
                          <a:spcPts val="3079"/>
                        </a:lnSpc>
                        <a:defRPr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Reference</a:t>
                      </a:r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 marL="95250" marR="9525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79"/>
                        </a:lnSpc>
                        <a:defRPr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Journal Metrics</a:t>
                      </a:r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 marL="95250" marR="9525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79"/>
                        </a:lnSpc>
                        <a:defRPr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Existing Systems / Methods</a:t>
                      </a:r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 marL="95250" marR="9525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30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Key Contributions</a:t>
                      </a:r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 marL="95250" marR="9525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30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Research Gaps</a:t>
                      </a:r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 marL="95250" marR="9525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25357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 err="1"/>
                        <a:t>Vulfovich</a:t>
                      </a:r>
                      <a:r>
                        <a:rPr lang="en-US" sz="1100" dirty="0"/>
                        <a:t> et al. (2021)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Journal: Simulation Modelling Practice and Theory</a:t>
                      </a:r>
                    </a:p>
                    <a:p>
                      <a:r>
                        <a:rPr lang="en-US" sz="1100" dirty="0"/>
                        <a:t>Quartile:Q1</a:t>
                      </a:r>
                    </a:p>
                    <a:p>
                      <a:r>
                        <a:rPr lang="en-US" sz="1100" dirty="0"/>
                        <a:t>Impact Factor: 4.719 (2022)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 Modified First Harmonic Approximation (MFHA) modeling</a:t>
                      </a:r>
                    </a:p>
                    <a:p>
                      <a:r>
                        <a:rPr lang="en-US" sz="1100" dirty="0"/>
                        <a:t>- SN-compensated inductive power transfer links</a:t>
                      </a:r>
                    </a:p>
                    <a:p>
                      <a:r>
                        <a:rPr lang="en-US" sz="1100" dirty="0"/>
                        <a:t>- Load-independent-voltage-output frequency systems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 Advanced modeling of power transfer links</a:t>
                      </a:r>
                    </a:p>
                    <a:p>
                      <a:r>
                        <a:rPr lang="en-US" sz="1100" dirty="0"/>
                        <a:t>- Load-independent voltage output techniques</a:t>
                      </a:r>
                    </a:p>
                    <a:p>
                      <a:r>
                        <a:rPr lang="en-US" sz="1100" dirty="0"/>
                        <a:t>- Simulation frameworks for inductive charging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 Focused on component-level analysis rather than system-level</a:t>
                      </a:r>
                    </a:p>
                    <a:p>
                      <a:r>
                        <a:rPr lang="en-US" sz="1100" dirty="0"/>
                        <a:t>- Limited scalability for grid integration</a:t>
                      </a:r>
                    </a:p>
                    <a:p>
                      <a:r>
                        <a:rPr lang="en-US" sz="1100" dirty="0"/>
                        <a:t>- Insufficient consideration of multiple charging scenarios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6200913"/>
                  </a:ext>
                </a:extLst>
              </a:tr>
              <a:tr h="1514713">
                <a:tc>
                  <a:txBody>
                    <a:bodyPr/>
                    <a:lstStyle/>
                    <a:p>
                      <a:r>
                        <a:rPr lang="en-US" sz="1100" dirty="0"/>
                        <a:t>Schreiber &amp; </a:t>
                      </a:r>
                      <a:r>
                        <a:rPr lang="en-US" sz="1100" dirty="0" err="1"/>
                        <a:t>Ulbig</a:t>
                      </a:r>
                      <a:r>
                        <a:rPr lang="en-US" sz="1100" dirty="0"/>
                        <a:t> (2023)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Journal: Energy and AI</a:t>
                      </a:r>
                    </a:p>
                    <a:p>
                      <a:r>
                        <a:rPr lang="en-US" sz="1100" dirty="0"/>
                        <a:t>Quartile:Q1</a:t>
                      </a:r>
                    </a:p>
                    <a:p>
                      <a:r>
                        <a:rPr lang="en-US" sz="1100" dirty="0"/>
                        <a:t>Impact Factor: 7.762 (2022)</a:t>
                      </a:r>
                    </a:p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 Model selection, adaptation, and combination</a:t>
                      </a:r>
                    </a:p>
                    <a:p>
                      <a:r>
                        <a:rPr lang="en-US" sz="1100" dirty="0"/>
                        <a:t>- Transfer learning for renewable forecasts</a:t>
                      </a:r>
                    </a:p>
                    <a:p>
                      <a:r>
                        <a:rPr lang="en-US" sz="1100" dirty="0"/>
                        <a:t>- Wind and PV power prediction</a:t>
                      </a:r>
                    </a:p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 Transfer learning techniques for power systems</a:t>
                      </a:r>
                    </a:p>
                    <a:p>
                      <a:r>
                        <a:rPr lang="en-US" sz="1100" dirty="0"/>
                        <a:t>- Model adaptation methodologies</a:t>
                      </a:r>
                    </a:p>
                    <a:p>
                      <a:r>
                        <a:rPr lang="en-US" sz="1100" dirty="0"/>
                        <a:t>- Renewable energy integration framework</a:t>
                      </a:r>
                    </a:p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 Focus on generation rather than load prediction</a:t>
                      </a:r>
                    </a:p>
                    <a:p>
                      <a:r>
                        <a:rPr lang="en-US" sz="1100" dirty="0"/>
                        <a:t>- Limited application to BPV charging load profiles</a:t>
                      </a:r>
                    </a:p>
                    <a:p>
                      <a:r>
                        <a:rPr lang="en-US" sz="1100" dirty="0"/>
                        <a:t>- Insufficient integration of charging behavior patterns</a:t>
                      </a:r>
                    </a:p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67113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75328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1604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A54E2130-AC06-6F22-F936-21C22324D7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1661443"/>
              </p:ext>
            </p:extLst>
          </p:nvPr>
        </p:nvGraphicFramePr>
        <p:xfrm>
          <a:off x="382386" y="1235270"/>
          <a:ext cx="8503920" cy="37925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1273">
                  <a:extLst>
                    <a:ext uri="{9D8B030D-6E8A-4147-A177-3AD203B41FA5}">
                      <a16:colId xmlns:a16="http://schemas.microsoft.com/office/drawing/2014/main" val="16707812"/>
                    </a:ext>
                  </a:extLst>
                </a:gridCol>
                <a:gridCol w="1457468">
                  <a:extLst>
                    <a:ext uri="{9D8B030D-6E8A-4147-A177-3AD203B41FA5}">
                      <a16:colId xmlns:a16="http://schemas.microsoft.com/office/drawing/2014/main" val="1035030889"/>
                    </a:ext>
                  </a:extLst>
                </a:gridCol>
                <a:gridCol w="2353611">
                  <a:extLst>
                    <a:ext uri="{9D8B030D-6E8A-4147-A177-3AD203B41FA5}">
                      <a16:colId xmlns:a16="http://schemas.microsoft.com/office/drawing/2014/main" val="3836108516"/>
                    </a:ext>
                  </a:extLst>
                </a:gridCol>
                <a:gridCol w="1700784">
                  <a:extLst>
                    <a:ext uri="{9D8B030D-6E8A-4147-A177-3AD203B41FA5}">
                      <a16:colId xmlns:a16="http://schemas.microsoft.com/office/drawing/2014/main" val="3590159973"/>
                    </a:ext>
                  </a:extLst>
                </a:gridCol>
                <a:gridCol w="1700784">
                  <a:extLst>
                    <a:ext uri="{9D8B030D-6E8A-4147-A177-3AD203B41FA5}">
                      <a16:colId xmlns:a16="http://schemas.microsoft.com/office/drawing/2014/main" val="1015992786"/>
                    </a:ext>
                  </a:extLst>
                </a:gridCol>
              </a:tblGrid>
              <a:tr h="677635">
                <a:tc>
                  <a:txBody>
                    <a:bodyPr/>
                    <a:lstStyle/>
                    <a:p>
                      <a:pPr algn="ctr">
                        <a:lnSpc>
                          <a:spcPts val="3079"/>
                        </a:lnSpc>
                        <a:defRPr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Reference</a:t>
                      </a:r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 marL="95250" marR="9525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79"/>
                        </a:lnSpc>
                        <a:defRPr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Journal Metrics</a:t>
                      </a:r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 marL="95250" marR="9525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79"/>
                        </a:lnSpc>
                        <a:defRPr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Existing Systems / Methods</a:t>
                      </a:r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 marL="95250" marR="9525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30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Key Contributions</a:t>
                      </a:r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 marL="95250" marR="9525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30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Research Gaps</a:t>
                      </a:r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 marL="95250" marR="9525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25357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 err="1"/>
                        <a:t>Klausmann</a:t>
                      </a:r>
                      <a:r>
                        <a:rPr lang="en-US" sz="1100" dirty="0"/>
                        <a:t> et al. (2023)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Journal: Energy and AI</a:t>
                      </a:r>
                    </a:p>
                    <a:p>
                      <a:r>
                        <a:rPr lang="en-US" sz="1100" dirty="0"/>
                        <a:t>Quartile:Q1</a:t>
                      </a:r>
                    </a:p>
                    <a:p>
                      <a:r>
                        <a:rPr lang="en-US" sz="1100" dirty="0"/>
                        <a:t>Impact Factor: 3.252 (2022)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 Ensemble deep learning for hour-ahead load forecasting</a:t>
                      </a:r>
                    </a:p>
                    <a:p>
                      <a:r>
                        <a:rPr lang="en-US" sz="1100" dirty="0"/>
                        <a:t>- Feature selection approach</a:t>
                      </a:r>
                    </a:p>
                    <a:p>
                      <a:r>
                        <a:rPr lang="en-US" sz="1100" dirty="0"/>
                        <a:t>- Comparative analysis with state-of-the-art methods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 Novel ensemble deep learning architecture&lt;</a:t>
                      </a:r>
                      <a:r>
                        <a:rPr lang="en-US" sz="1100" dirty="0" err="1"/>
                        <a:t>br</a:t>
                      </a:r>
                      <a:r>
                        <a:rPr lang="en-US" sz="1100" dirty="0"/>
                        <a:t>&gt;- Effective feature selection methodology&lt;</a:t>
                      </a:r>
                      <a:r>
                        <a:rPr lang="en-US" sz="1100" dirty="0" err="1"/>
                        <a:t>br</a:t>
                      </a:r>
                      <a:r>
                        <a:rPr lang="en-US" sz="1100" dirty="0"/>
                        <a:t>&gt;- Comparative benchmarking of forecasting models</a:t>
                      </a:r>
                    </a:p>
                    <a:p>
                      <a:r>
                        <a:rPr lang="en-US" sz="1100" dirty="0"/>
                        <a:t>etc. </a:t>
                      </a:r>
                    </a:p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 Not specifically focused on BPV charging loads</a:t>
                      </a:r>
                    </a:p>
                    <a:p>
                      <a:r>
                        <a:rPr lang="en-US" sz="1100" dirty="0"/>
                        <a:t>- Limited temporal resolution (hour-ahead only)</a:t>
                      </a:r>
                    </a:p>
                    <a:p>
                      <a:r>
                        <a:rPr lang="en-US" sz="1100" dirty="0"/>
                        <a:t>- Lack of spatial distribution consideration in grid impact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6200913"/>
                  </a:ext>
                </a:extLst>
              </a:tr>
              <a:tr h="1514713">
                <a:tc>
                  <a:txBody>
                    <a:bodyPr/>
                    <a:lstStyle/>
                    <a:p>
                      <a:r>
                        <a:rPr lang="en-US" sz="1100" dirty="0"/>
                        <a:t>Rath et al. (2024)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Journal: Electric Power Systems Research Quartile:Q1</a:t>
                      </a:r>
                    </a:p>
                    <a:p>
                      <a:r>
                        <a:rPr lang="en-US" sz="1100" dirty="0"/>
                        <a:t>Impact Factor: 4.630 (2022)</a:t>
                      </a:r>
                    </a:p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 Reduced complexity model predictive direct power control</a:t>
                      </a:r>
                    </a:p>
                    <a:p>
                      <a:r>
                        <a:rPr lang="en-US" sz="1100" dirty="0"/>
                        <a:t>- Systems for unbalanced grid conditions</a:t>
                      </a:r>
                    </a:p>
                    <a:p>
                      <a:r>
                        <a:rPr lang="en-US" sz="1100" dirty="0"/>
                        <a:t>- Grid stabilization techniques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 Grid stabilization under unbalanced conditions</a:t>
                      </a:r>
                    </a:p>
                    <a:p>
                      <a:r>
                        <a:rPr lang="en-US" sz="1100" dirty="0"/>
                        <a:t>- Reduced complexity control algorithms</a:t>
                      </a:r>
                    </a:p>
                    <a:p>
                      <a:r>
                        <a:rPr lang="en-US" sz="1100" dirty="0"/>
                        <a:t>- Direct power control methodologies</a:t>
                      </a:r>
                    </a:p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 Limited focus on demand-side prediction</a:t>
                      </a:r>
                    </a:p>
                    <a:p>
                      <a:r>
                        <a:rPr lang="en-US" sz="1100" dirty="0"/>
                        <a:t>- Insufficient consideration of BPV charging patterns</a:t>
                      </a:r>
                    </a:p>
                    <a:p>
                      <a:r>
                        <a:rPr lang="en-US" sz="1100" dirty="0"/>
                        <a:t>- Lack of machine learning integration for prediction</a:t>
                      </a:r>
                    </a:p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67113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00109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&amp; Research Design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2004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"Monitor – Predict – Control" framework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115568"/>
            <a:ext cx="4389120" cy="389534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11480" y="1188720"/>
            <a:ext cx="4206240" cy="375361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892040" y="1152144"/>
            <a:ext cx="201168" cy="43891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66360" y="115214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166360" y="138988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specs, charging patterns, road layout of Khulna &amp; Jashore cities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892040" y="1719072"/>
            <a:ext cx="201168" cy="43891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166360" y="171907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Setup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166360" y="195681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SUMO v1.25 + TraCI, Python 3.10, Windows 10 workstation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92040" y="2286000"/>
            <a:ext cx="201168" cy="438912"/>
          </a:xfrm>
          <a:prstGeom prst="rect">
            <a:avLst/>
          </a:prstGeom>
          <a:solidFill>
            <a:srgbClr val="0D7377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166360" y="228600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Road Network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166360" y="252374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nodes, 11 bidirectional edges, 8,654 m, based on Khulna arterials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892040" y="2852928"/>
            <a:ext cx="201168" cy="438912"/>
          </a:xfrm>
          <a:prstGeom prst="rect">
            <a:avLst/>
          </a:prstGeom>
          <a:solidFill>
            <a:srgbClr val="1B3A6B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166360" y="281039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 Station Placement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166360" y="3101305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stations (25–50 kW), 62 charging + 49 waiting slots across 5 edges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4892040" y="3419856"/>
            <a:ext cx="201168" cy="438912"/>
          </a:xfrm>
          <a:prstGeom prst="rect">
            <a:avLst/>
          </a:prstGeom>
          <a:solidFill>
            <a:srgbClr val="0D7377"/>
          </a:solidFill>
          <a:ln w="12700">
            <a:solidFill>
              <a:srgbClr val="145A8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166360" y="339859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Configuration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5166360" y="367886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EVs: 34 Easy Bikes, + 33 E-Rickshaws + 33 E-Vans; heterogeneous fleet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4892040" y="3986784"/>
            <a:ext cx="201168" cy="438912"/>
          </a:xfrm>
          <a:prstGeom prst="rect">
            <a:avLst/>
          </a:prstGeom>
          <a:solidFill>
            <a:srgbClr val="1B3A6B"/>
          </a:solidFill>
          <a:ln w="12700">
            <a:solidFill>
              <a:srgbClr val="186A4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166360" y="398678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Charging Logic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166360" y="422452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SOC-based routing (30% threshold → 70% target), FIFO queue promotion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4892040" y="4553712"/>
            <a:ext cx="201168" cy="438912"/>
          </a:xfrm>
          <a:prstGeom prst="rect">
            <a:avLst/>
          </a:prstGeom>
          <a:solidFill>
            <a:srgbClr val="0D7377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166360" y="45537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Execution via TraCI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166360" y="479145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 s run, 1-step monitoring; 34,020 records generated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SUMO Simulation Environment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2004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Khulna road network with traffic signals and charging stations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115568"/>
            <a:ext cx="19202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115568"/>
            <a:ext cx="1920240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37160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8,654 m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65760" y="192024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Road Network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075688" y="1115568"/>
            <a:ext cx="19202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075688" y="1115568"/>
            <a:ext cx="1920240" cy="20116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21408" y="137160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2121408" y="192024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 Stations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831336" y="1115568"/>
            <a:ext cx="19202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831336" y="1115568"/>
            <a:ext cx="1920240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77056" y="137160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3877056" y="192024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 Vehicles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586984" y="1115568"/>
            <a:ext cx="19202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586984" y="1115568"/>
            <a:ext cx="1920240" cy="20116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32704" y="137160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 s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5632704" y="192024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Duration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42632" y="1115568"/>
            <a:ext cx="1481328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342632" y="1115568"/>
            <a:ext cx="1453896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88352" y="1371600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34,020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7388352" y="1920240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Generated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0040" y="2685594"/>
            <a:ext cx="4096096" cy="234360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11480" y="2761488"/>
            <a:ext cx="3931920" cy="2180844"/>
          </a:xfrm>
          <a:prstGeom prst="rect">
            <a:avLst/>
          </a:prstGeom>
        </p:spPr>
      </p:pic>
      <p:sp>
        <p:nvSpPr>
          <p:cNvPr id="31" name="Shape 24">
            <a:extLst>
              <a:ext uri="{FF2B5EF4-FFF2-40B4-BE49-F238E27FC236}">
                <a16:creationId xmlns:a16="http://schemas.microsoft.com/office/drawing/2014/main" id="{2C00A607-F83C-407E-74A2-CAFCC7C9B99E}"/>
              </a:ext>
            </a:extLst>
          </p:cNvPr>
          <p:cNvSpPr/>
          <p:nvPr/>
        </p:nvSpPr>
        <p:spPr>
          <a:xfrm>
            <a:off x="4571584" y="2685594"/>
            <a:ext cx="4196265" cy="234360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graphicFrame>
        <p:nvGraphicFramePr>
          <p:cNvPr id="34" name="Table 33">
            <a:extLst>
              <a:ext uri="{FF2B5EF4-FFF2-40B4-BE49-F238E27FC236}">
                <a16:creationId xmlns:a16="http://schemas.microsoft.com/office/drawing/2014/main" id="{65E946DA-1E01-2CCB-50C9-DAD10F4AF0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3144491"/>
              </p:ext>
            </p:extLst>
          </p:nvPr>
        </p:nvGraphicFramePr>
        <p:xfrm>
          <a:off x="4663024" y="2807208"/>
          <a:ext cx="3982212" cy="2143735"/>
        </p:xfrm>
        <a:graphic>
          <a:graphicData uri="http://schemas.openxmlformats.org/drawingml/2006/table">
            <a:tbl>
              <a:tblPr/>
              <a:tblGrid>
                <a:gridCol w="1031194">
                  <a:extLst>
                    <a:ext uri="{9D8B030D-6E8A-4147-A177-3AD203B41FA5}">
                      <a16:colId xmlns:a16="http://schemas.microsoft.com/office/drawing/2014/main" val="2678028350"/>
                    </a:ext>
                  </a:extLst>
                </a:gridCol>
                <a:gridCol w="1392382">
                  <a:extLst>
                    <a:ext uri="{9D8B030D-6E8A-4147-A177-3AD203B41FA5}">
                      <a16:colId xmlns:a16="http://schemas.microsoft.com/office/drawing/2014/main" val="366697314"/>
                    </a:ext>
                  </a:extLst>
                </a:gridCol>
                <a:gridCol w="1558636">
                  <a:extLst>
                    <a:ext uri="{9D8B030D-6E8A-4147-A177-3AD203B41FA5}">
                      <a16:colId xmlns:a16="http://schemas.microsoft.com/office/drawing/2014/main" val="2338976362"/>
                    </a:ext>
                  </a:extLst>
                </a:gridCol>
              </a:tblGrid>
              <a:tr h="222214">
                <a:tc>
                  <a:txBody>
                    <a:bodyPr/>
                    <a:lstStyle/>
                    <a:p>
                      <a:r>
                        <a:rPr lang="en-US" sz="1000" b="1" dirty="0"/>
                        <a:t>Direction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Route ID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Edge Sequence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3848731"/>
                  </a:ext>
                </a:extLst>
              </a:tr>
              <a:tr h="207867">
                <a:tc>
                  <a:txBody>
                    <a:bodyPr/>
                    <a:lstStyle/>
                    <a:p>
                      <a:r>
                        <a:rPr lang="en-US" sz="900" dirty="0"/>
                        <a:t>Forward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route1_forward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E0 → E1 → E2 → E3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2658536"/>
                  </a:ext>
                </a:extLst>
              </a:tr>
              <a:tr h="207867">
                <a:tc>
                  <a:txBody>
                    <a:bodyPr/>
                    <a:lstStyle/>
                    <a:p>
                      <a:r>
                        <a:rPr lang="en-US" sz="900" dirty="0"/>
                        <a:t>Forward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route2_forward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E0 → E1 → E9 → E8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6917509"/>
                  </a:ext>
                </a:extLst>
              </a:tr>
              <a:tr h="249051">
                <a:tc>
                  <a:txBody>
                    <a:bodyPr/>
                    <a:lstStyle/>
                    <a:p>
                      <a:r>
                        <a:rPr lang="en-US" sz="900" dirty="0"/>
                        <a:t>Forward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route3_forward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E4 → E5 → E6 → E7 → E8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8300909"/>
                  </a:ext>
                </a:extLst>
              </a:tr>
              <a:tr h="207867">
                <a:tc>
                  <a:txBody>
                    <a:bodyPr/>
                    <a:lstStyle/>
                    <a:p>
                      <a:r>
                        <a:rPr lang="en-US" sz="900"/>
                        <a:t>Forward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route4_forward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E0 → E10 → E7 → E8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7957859"/>
                  </a:ext>
                </a:extLst>
              </a:tr>
              <a:tr h="249051">
                <a:tc>
                  <a:txBody>
                    <a:bodyPr/>
                    <a:lstStyle/>
                    <a:p>
                      <a:r>
                        <a:rPr lang="en-US" sz="900"/>
                        <a:t>Reverse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route1_reverse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-E3 → -E2 → -E1 → -E0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827436"/>
                  </a:ext>
                </a:extLst>
              </a:tr>
              <a:tr h="249051">
                <a:tc>
                  <a:txBody>
                    <a:bodyPr/>
                    <a:lstStyle/>
                    <a:p>
                      <a:r>
                        <a:rPr lang="en-US" sz="900"/>
                        <a:t>Reverse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route2_reverse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-E8 → -E9 → -E1 → -E0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7172108"/>
                  </a:ext>
                </a:extLst>
              </a:tr>
              <a:tr h="249051">
                <a:tc>
                  <a:txBody>
                    <a:bodyPr/>
                    <a:lstStyle/>
                    <a:p>
                      <a:r>
                        <a:rPr lang="en-US" sz="900"/>
                        <a:t>Reverse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route3_reverse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-E8 → -E7 → -E6 → -E5 → -E4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8347584"/>
                  </a:ext>
                </a:extLst>
              </a:tr>
              <a:tr h="249051">
                <a:tc>
                  <a:txBody>
                    <a:bodyPr/>
                    <a:lstStyle/>
                    <a:p>
                      <a:r>
                        <a:rPr lang="en-US" sz="900" dirty="0"/>
                        <a:t>Reverse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route4_reverse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-E8 → -E7 → -E10 → -E0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7604480"/>
                  </a:ext>
                </a:extLst>
              </a:tr>
            </a:tbl>
          </a:graphicData>
        </a:graphic>
      </p:graphicFrame>
      <p:sp>
        <p:nvSpPr>
          <p:cNvPr id="29" name="Text 26">
            <a:extLst>
              <a:ext uri="{FF2B5EF4-FFF2-40B4-BE49-F238E27FC236}">
                <a16:creationId xmlns:a16="http://schemas.microsoft.com/office/drawing/2014/main" id="{2D9F870D-4064-CA48-B5AC-D08D8232FE1A}"/>
              </a:ext>
            </a:extLst>
          </p:cNvPr>
          <p:cNvSpPr/>
          <p:nvPr/>
        </p:nvSpPr>
        <p:spPr>
          <a:xfrm>
            <a:off x="4604837" y="2331722"/>
            <a:ext cx="421912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Definitions and Edge Sequences</a:t>
            </a:r>
            <a:endParaRPr lang="en-US" sz="1300" dirty="0"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2485AC8A-5099-9FD8-62CC-BBF59D435A2B}"/>
              </a:ext>
            </a:extLst>
          </p:cNvPr>
          <p:cNvSpPr/>
          <p:nvPr/>
        </p:nvSpPr>
        <p:spPr>
          <a:xfrm>
            <a:off x="361876" y="2328257"/>
            <a:ext cx="421912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SUMO </a:t>
            </a:r>
            <a:r>
              <a:rPr lang="en-US" sz="1300" b="1" dirty="0" err="1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netedit</a:t>
            </a: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Custom Microscopic Road Network</a:t>
            </a:r>
          </a:p>
        </p:txBody>
      </p:sp>
    </p:spTree>
    <p:extLst>
      <p:ext uri="{BB962C8B-B14F-4D97-AF65-F5344CB8AC3E}">
        <p14:creationId xmlns:p14="http://schemas.microsoft.com/office/powerpoint/2010/main" val="11967465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SUMO Simulation Environment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2004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Khulna road network with traffic signals and charging stations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39" y="960120"/>
            <a:ext cx="8680561" cy="45719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" y="1426464"/>
            <a:ext cx="393192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320040" y="4887884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SUMO netedit – Custom Microscopic Road Network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4407408" y="107442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 Station Configuration</a:t>
            </a:r>
            <a:endParaRPr lang="en-US" sz="1300" dirty="0"/>
          </a:p>
        </p:txBody>
      </p:sp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41F96497-7750-3F8E-F9AB-94181039A7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5793762"/>
              </p:ext>
            </p:extLst>
          </p:nvPr>
        </p:nvGraphicFramePr>
        <p:xfrm>
          <a:off x="4343400" y="1426464"/>
          <a:ext cx="4657201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8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1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18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58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58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8284">
                <a:tc>
                  <a:txBody>
                    <a:bodyPr/>
                    <a:lstStyle/>
                    <a:p>
                      <a:pPr algn="ctr">
                        <a:defRPr sz="1200" b="1"/>
                      </a:pPr>
                      <a:r>
                        <a:rPr dirty="0"/>
                        <a:t>Station ID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/>
                      </a:pPr>
                      <a:r>
                        <a:t>Edge ID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/>
                      </a:pPr>
                      <a:r>
                        <a:rPr dirty="0"/>
                        <a:t>Power (kW)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/>
                      </a:pPr>
                      <a:r>
                        <a:t>Charging Slots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/>
                      </a:pPr>
                      <a:r>
                        <a:rPr dirty="0"/>
                        <a:t>Waiting Slots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697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pa_2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E0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697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pa_2_rev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-E0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697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pa_3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697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pa_3_rev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-E1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697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dirty="0"/>
                        <a:t>pa_6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E5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697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pa_6_rev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-E5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697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pa_7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E6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697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pa_7_rev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-E6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697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pa_8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E7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697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pa_8_rev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-E7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6970">
                <a:tc>
                  <a:txBody>
                    <a:bodyPr/>
                    <a:lstStyle/>
                    <a:p>
                      <a:pPr algn="ctr">
                        <a:defRPr sz="1200" b="1"/>
                      </a:pPr>
                      <a: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1"/>
                      </a:pPr>
                      <a:r>
                        <a:rPr dirty="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1"/>
                      </a:pPr>
                      <a:r>
                        <a:rPr dirty="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1"/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1"/>
                      </a:pPr>
                      <a:r>
                        <a:rPr dirty="0"/>
                        <a:t>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pic>
        <p:nvPicPr>
          <p:cNvPr id="35" name="Picture 34">
            <a:extLst>
              <a:ext uri="{FF2B5EF4-FFF2-40B4-BE49-F238E27FC236}">
                <a16:creationId xmlns:a16="http://schemas.microsoft.com/office/drawing/2014/main" id="{5B2B8E6E-A2F0-4855-2C86-CCE5075496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715" y="1537855"/>
            <a:ext cx="3753649" cy="3261706"/>
          </a:xfrm>
          <a:prstGeom prst="rect">
            <a:avLst/>
          </a:prstGeom>
        </p:spPr>
      </p:pic>
      <p:sp>
        <p:nvSpPr>
          <p:cNvPr id="36" name="Text 26">
            <a:extLst>
              <a:ext uri="{FF2B5EF4-FFF2-40B4-BE49-F238E27FC236}">
                <a16:creationId xmlns:a16="http://schemas.microsoft.com/office/drawing/2014/main" id="{E6BEC7DC-C1F2-DBC7-B13C-66F843815E23}"/>
              </a:ext>
            </a:extLst>
          </p:cNvPr>
          <p:cNvSpPr/>
          <p:nvPr/>
        </p:nvSpPr>
        <p:spPr>
          <a:xfrm>
            <a:off x="372268" y="106056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 Station Implementation in SUMO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Fleet &amp; Smart Charging Logic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graphicFrame>
        <p:nvGraphicFramePr>
          <p:cNvPr id="5" name="Chart 0"/>
          <p:cNvGraphicFramePr/>
          <p:nvPr/>
        </p:nvGraphicFramePr>
        <p:xfrm>
          <a:off x="320040" y="1115568"/>
          <a:ext cx="4114800" cy="2377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8787980"/>
              </p:ext>
            </p:extLst>
          </p:nvPr>
        </p:nvGraphicFramePr>
        <p:xfrm>
          <a:off x="330431" y="3701658"/>
          <a:ext cx="8503920" cy="129540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Easy Bike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37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E-Rickshaw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37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E-Van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37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Battery (Wh)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5,760 – 7,200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Mass (kg)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345 – 354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 – 218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 – 219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Power (W)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 – 1,200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 – 1,000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 – 900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Speed (km/h)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– 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– 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– 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617720" y="980485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Charging Decision Logic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17720" y="1373677"/>
            <a:ext cx="1417320" cy="256032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4645152" y="1373677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&lt; 30%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6089904" y="1391965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 re-routing to nearest station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4617720" y="1693717"/>
            <a:ext cx="1417320" cy="2560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645152" y="1693717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1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6089904" y="1712005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station has free charging slot → route there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617720" y="2013757"/>
            <a:ext cx="1417320" cy="2560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645152" y="2013757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2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6089904" y="2032045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full → check 2nd nearest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617720" y="2333797"/>
            <a:ext cx="1417320" cy="2560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645152" y="2333797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3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6089904" y="2352085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nearest has charging slot → route there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4617720" y="2653837"/>
            <a:ext cx="1417320" cy="2560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645152" y="2653837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4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6089904" y="2672125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nearest has waiting slot → enqueue (FIFO)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4617720" y="2973877"/>
            <a:ext cx="1417320" cy="2560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4645152" y="2973877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5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6089904" y="2992165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full → no reroute; continue current route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4617720" y="3293917"/>
            <a:ext cx="1417320" cy="2560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4645152" y="3293917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SOC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6089904" y="3312205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session ends at 70% SOC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Fleet &amp; Smart Charging Logic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9F9E6A33-102F-094C-7C1F-377EC7E5D1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4535627"/>
              </p:ext>
            </p:extLst>
          </p:nvPr>
        </p:nvGraphicFramePr>
        <p:xfrm>
          <a:off x="457200" y="1371600"/>
          <a:ext cx="832104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defRPr b="1"/>
                      </a:pPr>
                      <a:r>
                        <a:rPr sz="1050" dirty="0"/>
                        <a:t>Parameter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/>
                      </a:pPr>
                      <a:r>
                        <a:rPr sz="1050" dirty="0"/>
                        <a:t>Easy Bike</a:t>
                      </a:r>
                    </a:p>
                  </a:txBody>
                  <a:tcPr>
                    <a:solidFill>
                      <a:srgbClr val="0D737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/>
                      </a:pPr>
                      <a:r>
                        <a:rPr sz="1050" dirty="0"/>
                        <a:t>E-Rickshaw</a:t>
                      </a:r>
                    </a:p>
                  </a:txBody>
                  <a:tcPr>
                    <a:solidFill>
                      <a:srgbClr val="0D737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/>
                      </a:pPr>
                      <a:r>
                        <a:rPr sz="1050" dirty="0"/>
                        <a:t>E-Van</a:t>
                      </a:r>
                    </a:p>
                  </a:txBody>
                  <a:tcPr>
                    <a:solidFill>
                      <a:srgbClr val="0D737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Body Dimensions (L×W×H)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2.5×1.5×1.4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2.3×1.0×1.8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2.4×1.3×0.8 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Vehicle Mass (kg)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345 – 354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198 – 218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198 – 219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sz="1050" dirty="0"/>
                        <a:t>Battery Capacity (</a:t>
                      </a:r>
                      <a:r>
                        <a:rPr sz="1050" dirty="0" err="1"/>
                        <a:t>Wh</a:t>
                      </a:r>
                      <a:r>
                        <a:rPr sz="1050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12,000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5,760 – 7,200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5,760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Max Power (W)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1,000 – 1,200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900 – 1,000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800 – 900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Acceleration (m/s²)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1.15 – 1.31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0.58 – 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0.68 – 0.81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Deceleration (m/s²)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2.45 – 2.58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2.48 – 2.67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2.58 – 2.77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Air Drag Coeff. (Cd)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0.727 – 0.760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0.804 – 0.910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0.754 – 0.860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Avg. Propulsion Eff.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0.890 – 0.896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0.830 – 0.834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0.820 – 0.826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Avg. Recup. Eff.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0.745 – 0.751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0.650 – 0.656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0.550 – 0.556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Const. Power Intake (W)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80 – 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29 – 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24 – 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Front Surface Area (m²)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2.41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1.51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1.01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Reaction Time (τ)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1.88 – 1.94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1.72 – 1.76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0.87 – 0.92 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Visual Color (SUMO-GUI)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Magenta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Green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dirty="0"/>
                        <a:t>Blue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30" name="Text 3">
            <a:extLst>
              <a:ext uri="{FF2B5EF4-FFF2-40B4-BE49-F238E27FC236}">
                <a16:creationId xmlns:a16="http://schemas.microsoft.com/office/drawing/2014/main" id="{5BEE8C00-AFD0-D2C9-4134-FCCBB1310127}"/>
              </a:ext>
            </a:extLst>
          </p:cNvPr>
          <p:cNvSpPr/>
          <p:nvPr/>
        </p:nvSpPr>
        <p:spPr>
          <a:xfrm>
            <a:off x="2478232" y="980485"/>
            <a:ext cx="41875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Parameter Configuration in SUMO (Averaged Values)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3782199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&amp; System Load Profile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2004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34,020 records from a 600-second SUMO simulation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115568"/>
            <a:ext cx="192024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115568"/>
            <a:ext cx="1920240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28847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34,020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65760" y="17124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Raw Records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084832" y="1115568"/>
            <a:ext cx="192024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084832" y="1115568"/>
            <a:ext cx="1764792" cy="20116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30552" y="128847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130552" y="17124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83368" y="1115568"/>
            <a:ext cx="192024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72977" y="1115568"/>
            <a:ext cx="1920240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21268" y="128847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3548701" y="16945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Time Steps (s)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219558" y="1115568"/>
            <a:ext cx="192024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209167" y="1115568"/>
            <a:ext cx="1920240" cy="20116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34105" y="128847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1,340 kW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5109413" y="17124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Peak Load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067478" y="1115568"/>
            <a:ext cx="1764792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057087" y="1115568"/>
            <a:ext cx="1764792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40461" y="128847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723.8 kW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6998897" y="17124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Mean Load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20040" y="2221992"/>
            <a:ext cx="8503920" cy="267919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11480" y="2276024"/>
            <a:ext cx="8321040" cy="2552008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320040" y="4904925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/>
              <a:t>Figure: System Total EV Charging Load over Simulation Time (1–600 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&amp; System Load Profile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2004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34,020 records from a 600-second SUMO simulation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" y="1346660"/>
            <a:ext cx="8503920" cy="366674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D53FCFC3-CE62-A21C-7469-2E846B87B3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4529377"/>
              </p:ext>
            </p:extLst>
          </p:nvPr>
        </p:nvGraphicFramePr>
        <p:xfrm>
          <a:off x="457200" y="1463040"/>
          <a:ext cx="8229600" cy="3438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6512"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sz="1200" dirty="0"/>
                        <a:t>Property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sz="1200" dirty="0"/>
                        <a:t>Value</a:t>
                      </a:r>
                    </a:p>
                  </a:txBody>
                  <a:tcPr>
                    <a:solidFill>
                      <a:srgbClr val="0D737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6512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sz="1200"/>
                        <a:t>Total records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sz="1200"/>
                        <a:t>34,020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6512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sz="1200"/>
                        <a:t>Number of features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sz="1200" dirty="0"/>
                        <a:t>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6512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sz="1200"/>
                        <a:t>Unique vehicles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sz="1200"/>
                        <a:t>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6512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sz="1200"/>
                        <a:t>Simulation duration (s)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sz="1200"/>
                        <a:t>1 – 600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6512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sz="1200"/>
                        <a:t>Status: Driving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sz="1200"/>
                        <a:t>19,710 (57.9%)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6512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sz="1200"/>
                        <a:t>Status: Charging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sz="1200"/>
                        <a:t>11,980 (35.2%)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6512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sz="1200"/>
                        <a:t>Status: Waiting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sz="1200"/>
                        <a:t>1,720 (5.1%)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6512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sz="1200"/>
                        <a:t>Status: Idle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sz="1200"/>
                        <a:t>610 (1.8%)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6512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sz="1200"/>
                        <a:t>System load: Minimum (kW)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sz="1200"/>
                        <a:t>0.00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6512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sz="1200"/>
                        <a:t>System load: Mean (kW)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sz="1200"/>
                        <a:t>723.82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6512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sz="1200"/>
                        <a:t>System load: Maximum (kW)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sz="1200" dirty="0"/>
                        <a:t>1,340.00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30" name="Text 3">
            <a:extLst>
              <a:ext uri="{FF2B5EF4-FFF2-40B4-BE49-F238E27FC236}">
                <a16:creationId xmlns:a16="http://schemas.microsoft.com/office/drawing/2014/main" id="{86FAA006-E26B-B758-37E2-44C53E0ACA17}"/>
              </a:ext>
            </a:extLst>
          </p:cNvPr>
          <p:cNvSpPr/>
          <p:nvPr/>
        </p:nvSpPr>
        <p:spPr>
          <a:xfrm>
            <a:off x="2478232" y="1011658"/>
            <a:ext cx="41875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 Charging Load Demand Dataset Summary</a:t>
            </a:r>
          </a:p>
        </p:txBody>
      </p:sp>
    </p:spTree>
    <p:extLst>
      <p:ext uri="{BB962C8B-B14F-4D97-AF65-F5344CB8AC3E}">
        <p14:creationId xmlns:p14="http://schemas.microsoft.com/office/powerpoint/2010/main" val="10843973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Correlation &amp; Importance Analysis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115568"/>
            <a:ext cx="4206240" cy="364845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11480" y="1188720"/>
            <a:ext cx="4023360" cy="35661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20040" y="48006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Pearson Correlation Heatmap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4709160" y="1115568"/>
            <a:ext cx="4114800" cy="36393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00600" y="1188720"/>
            <a:ext cx="3931920" cy="344728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20040" y="4828032"/>
            <a:ext cx="4206240" cy="219456"/>
          </a:xfrm>
          <a:prstGeom prst="rect">
            <a:avLst/>
          </a:prstGeom>
          <a:solidFill>
            <a:srgbClr val="E8F0FE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3" name="Text 9"/>
          <p:cNvSpPr/>
          <p:nvPr/>
        </p:nvSpPr>
        <p:spPr>
          <a:xfrm>
            <a:off x="4709160" y="4816602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timestep_sec, system_total_vehicles  →  top XGBoost features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4709160" y="4961636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Speed, acceleration, SOC  →  low marginal importance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Models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2004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</a:t>
            </a:r>
            <a:r>
              <a:rPr lang="en-US" sz="13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evaluated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143000"/>
            <a:ext cx="4251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143000"/>
            <a:ext cx="54864" cy="8046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" y="12161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48056" y="1490472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Config: Ridge (α=100)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48056" y="1691640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25.7 / R²=0.9946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0040" y="2093976"/>
            <a:ext cx="4251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093976"/>
            <a:ext cx="54864" cy="80467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8056" y="21671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8056" y="2441448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Config: max_depth=3, min_samples=30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48056" y="2642616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33.5 / R²=0.9904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0040" y="3044952"/>
            <a:ext cx="4251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" y="3044952"/>
            <a:ext cx="54864" cy="804672"/>
          </a:xfrm>
          <a:prstGeom prst="rect">
            <a:avLst/>
          </a:prstGeom>
          <a:solidFill>
            <a:srgbClr val="7BA7BC"/>
          </a:solidFill>
          <a:ln w="12700">
            <a:solidFill>
              <a:srgbClr val="7BA7B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8056" y="31181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48056" y="3392424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Config: 50 trees, max_depth=3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48056" y="3593592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BA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39.7 / R²=0.9878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0040" y="3995928"/>
            <a:ext cx="4251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" y="3995928"/>
            <a:ext cx="54864" cy="8046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056" y="4069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48056" y="4343400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Config: lr=0.05, depth=2, L1+L2 reg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48056" y="4544568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41.7 / R²=0.9854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846320" y="1143000"/>
            <a:ext cx="39776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846320" y="1143000"/>
            <a:ext cx="54864" cy="804672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09560" y="1179576"/>
            <a:ext cx="804672" cy="228600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09560" y="1179576"/>
            <a:ext cx="804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★ BEST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974336" y="12161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 (Best Model)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974336" y="1490472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Config: 128→64→32, BN+Dropout(0.2)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974336" y="1691640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19.2 / R²=0.9967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846320" y="2093976"/>
            <a:ext cx="39776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846320" y="2093976"/>
            <a:ext cx="54864" cy="80467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974336" y="21671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974336" y="2441448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Config: 64+32 units, W=5 lookback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974336" y="2642616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84.2 / R²=0.9365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846320" y="3044952"/>
            <a:ext cx="39776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846320" y="3044952"/>
            <a:ext cx="54864" cy="804672"/>
          </a:xfrm>
          <a:prstGeom prst="rect">
            <a:avLst/>
          </a:prstGeom>
          <a:solidFill>
            <a:srgbClr val="186A3E"/>
          </a:solidFill>
          <a:ln w="12700">
            <a:solidFill>
              <a:srgbClr val="186A3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974336" y="31181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974336" y="3392424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Config: 64+32 units, W=5 lookback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974336" y="3593592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86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81.5 / R²=0.9444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vs. Predicted Load — All Models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115568"/>
            <a:ext cx="202996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1152144"/>
            <a:ext cx="1938528" cy="13898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2560320"/>
            <a:ext cx="193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293B"/>
                </a:solidFill>
              </a:rPr>
              <a:t>Linear Regression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65760" y="2752344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7377"/>
                </a:solidFill>
              </a:rPr>
              <a:t>R²=0.9946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496312" y="1115568"/>
            <a:ext cx="202996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542032" y="1152144"/>
            <a:ext cx="1938528" cy="13898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542032" y="2560320"/>
            <a:ext cx="193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293B"/>
                </a:solidFill>
              </a:rPr>
              <a:t>Decision Tree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2542032" y="2752344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7377"/>
                </a:solidFill>
              </a:rPr>
              <a:t>R²=0.9904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4672584" y="1115568"/>
            <a:ext cx="202996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718304" y="1152144"/>
            <a:ext cx="1938528" cy="138988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718304" y="2560320"/>
            <a:ext cx="193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293B"/>
                </a:solidFill>
              </a:rPr>
              <a:t>Random Forest</a:t>
            </a:r>
            <a:endParaRPr lang="en-US" sz="950" dirty="0"/>
          </a:p>
        </p:txBody>
      </p:sp>
      <p:sp>
        <p:nvSpPr>
          <p:cNvPr id="16" name="Text 11"/>
          <p:cNvSpPr/>
          <p:nvPr/>
        </p:nvSpPr>
        <p:spPr>
          <a:xfrm>
            <a:off x="4718304" y="2752344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7377"/>
                </a:solidFill>
              </a:rPr>
              <a:t>R²=0.9878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6848856" y="1115568"/>
            <a:ext cx="202996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894576" y="1152144"/>
            <a:ext cx="1938528" cy="138988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894576" y="2560320"/>
            <a:ext cx="193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293B"/>
                </a:solidFill>
              </a:rPr>
              <a:t>XGBoost</a:t>
            </a:r>
            <a:endParaRPr lang="en-US" sz="950" dirty="0"/>
          </a:p>
        </p:txBody>
      </p:sp>
      <p:sp>
        <p:nvSpPr>
          <p:cNvPr id="20" name="Text 14"/>
          <p:cNvSpPr/>
          <p:nvPr/>
        </p:nvSpPr>
        <p:spPr>
          <a:xfrm>
            <a:off x="6894576" y="2752344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7377"/>
                </a:solidFill>
              </a:rPr>
              <a:t>R²=0.9854</a:t>
            </a:r>
            <a:endParaRPr lang="en-US" sz="900" dirty="0"/>
          </a:p>
        </p:txBody>
      </p:sp>
      <p:sp>
        <p:nvSpPr>
          <p:cNvPr id="21" name="Shape 15"/>
          <p:cNvSpPr/>
          <p:nvPr/>
        </p:nvSpPr>
        <p:spPr>
          <a:xfrm>
            <a:off x="320040" y="3108960"/>
            <a:ext cx="202996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365760" y="3145536"/>
            <a:ext cx="1938528" cy="138988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65760" y="4553712"/>
            <a:ext cx="193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293B"/>
                </a:solidFill>
              </a:rPr>
              <a:t>ANN ★ Best</a:t>
            </a:r>
            <a:endParaRPr lang="en-US" sz="950" dirty="0"/>
          </a:p>
        </p:txBody>
      </p:sp>
      <p:sp>
        <p:nvSpPr>
          <p:cNvPr id="24" name="Text 17"/>
          <p:cNvSpPr/>
          <p:nvPr/>
        </p:nvSpPr>
        <p:spPr>
          <a:xfrm>
            <a:off x="365760" y="4745736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7377"/>
                </a:solidFill>
              </a:rPr>
              <a:t>R²=0.9967</a:t>
            </a:r>
            <a:endParaRPr lang="en-US" sz="900" dirty="0"/>
          </a:p>
        </p:txBody>
      </p:sp>
      <p:sp>
        <p:nvSpPr>
          <p:cNvPr id="25" name="Shape 18"/>
          <p:cNvSpPr/>
          <p:nvPr/>
        </p:nvSpPr>
        <p:spPr>
          <a:xfrm>
            <a:off x="2496312" y="3108960"/>
            <a:ext cx="202996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2542032" y="3145536"/>
            <a:ext cx="1938528" cy="1389888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2542032" y="4553712"/>
            <a:ext cx="193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293B"/>
                </a:solidFill>
              </a:rPr>
              <a:t>LSTM</a:t>
            </a:r>
            <a:endParaRPr lang="en-US" sz="950" dirty="0"/>
          </a:p>
        </p:txBody>
      </p:sp>
      <p:sp>
        <p:nvSpPr>
          <p:cNvPr id="28" name="Text 20"/>
          <p:cNvSpPr/>
          <p:nvPr/>
        </p:nvSpPr>
        <p:spPr>
          <a:xfrm>
            <a:off x="2542032" y="4745736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7377"/>
                </a:solidFill>
              </a:rPr>
              <a:t>R²=0.9365</a:t>
            </a:r>
            <a:endParaRPr lang="en-US" sz="900" dirty="0"/>
          </a:p>
        </p:txBody>
      </p:sp>
      <p:sp>
        <p:nvSpPr>
          <p:cNvPr id="29" name="Shape 21"/>
          <p:cNvSpPr/>
          <p:nvPr/>
        </p:nvSpPr>
        <p:spPr>
          <a:xfrm>
            <a:off x="4672584" y="3108960"/>
            <a:ext cx="202996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718304" y="3145536"/>
            <a:ext cx="1938528" cy="1389888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4718304" y="4553712"/>
            <a:ext cx="193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293B"/>
                </a:solidFill>
              </a:rPr>
              <a:t>GRU</a:t>
            </a:r>
            <a:endParaRPr lang="en-US" sz="950" dirty="0"/>
          </a:p>
        </p:txBody>
      </p:sp>
      <p:sp>
        <p:nvSpPr>
          <p:cNvPr id="32" name="Text 23"/>
          <p:cNvSpPr/>
          <p:nvPr/>
        </p:nvSpPr>
        <p:spPr>
          <a:xfrm>
            <a:off x="4718304" y="4745736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7377"/>
                </a:solidFill>
              </a:rPr>
              <a:t>R²=0.9444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 Comparison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2004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MAE, MSE, RMSE, MAPE, R², Accuracy, F1-Score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115568"/>
            <a:ext cx="41605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11480" y="1170432"/>
            <a:ext cx="3977640" cy="171907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663440" y="1115568"/>
            <a:ext cx="41605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54880" y="1170432"/>
            <a:ext cx="3977640" cy="171907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20040" y="3090672"/>
            <a:ext cx="41605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11480" y="3145536"/>
            <a:ext cx="3977640" cy="1719072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663440" y="3090672"/>
            <a:ext cx="41605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754880" y="3145536"/>
            <a:ext cx="3977640" cy="171907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320040" y="2944368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MAE &amp; MSE</a:t>
            </a:r>
            <a:endParaRPr lang="en-US" sz="950" dirty="0"/>
          </a:p>
        </p:txBody>
      </p:sp>
      <p:sp>
        <p:nvSpPr>
          <p:cNvPr id="15" name="Text 9"/>
          <p:cNvSpPr/>
          <p:nvPr/>
        </p:nvSpPr>
        <p:spPr>
          <a:xfrm>
            <a:off x="4663440" y="2944368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RMSE &amp; MAPE</a:t>
            </a:r>
            <a:endParaRPr lang="en-US" sz="950" dirty="0"/>
          </a:p>
        </p:txBody>
      </p:sp>
      <p:sp>
        <p:nvSpPr>
          <p:cNvPr id="16" name="Text 10"/>
          <p:cNvSpPr/>
          <p:nvPr/>
        </p:nvSpPr>
        <p:spPr>
          <a:xfrm>
            <a:off x="320040" y="4846320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R² Score</a:t>
            </a:r>
            <a:endParaRPr lang="en-US" sz="950" dirty="0"/>
          </a:p>
        </p:txBody>
      </p:sp>
      <p:sp>
        <p:nvSpPr>
          <p:cNvPr id="17" name="Text 11"/>
          <p:cNvSpPr/>
          <p:nvPr/>
        </p:nvSpPr>
        <p:spPr>
          <a:xfrm>
            <a:off x="4663440" y="4846320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Accuracy &amp; F1-Score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 Results Summary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2004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Cross-Validation — System Load Prediction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15568"/>
          <a:ext cx="8138160" cy="3803904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(kW)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(kW)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MAPE (%)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 (%)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F1-Wtd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Regression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1068.8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32.69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Tree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1896.7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2397.5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48.96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0.9878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2864.3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 ★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6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6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647.9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6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6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6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6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6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6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LSTM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9200.6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81.45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8028.4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20040" y="4919472"/>
            <a:ext cx="8503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C3483"/>
                </a:solidFill>
              </a:rPr>
              <a:t>★ ANN achieves best performance across all key metrics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 &amp; Implications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143000"/>
            <a:ext cx="42519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43000"/>
            <a:ext cx="4251960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1399032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 Outperforms All Models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9768" y="1673352"/>
            <a:ext cx="4050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R²=0.9967, MAE=19.2 kW, Acc=95.28% — best precision for EV load forecasting in this simulated environment.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6320" y="1143000"/>
            <a:ext cx="42519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46320" y="1143000"/>
            <a:ext cx="4251960" cy="20116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56048" y="1399032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Relationships Dominate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56048" y="1673352"/>
            <a:ext cx="4050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 achieved R²=0.9946, outperforming tree-based ensembles — confirming strong linear structure in the charging load data.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" y="2404872"/>
            <a:ext cx="42519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" y="2404872"/>
            <a:ext cx="4251960" cy="201168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9768" y="2660904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 Models Underperform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29768" y="2935224"/>
            <a:ext cx="4050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LSTM/GRU showed highest errors (MAE ~82–84 kW), suggesting instantaneous features carry more information than temporal sequences at this scale.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846320" y="2404872"/>
            <a:ext cx="42519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846320" y="2404872"/>
            <a:ext cx="4251960" cy="20116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56048" y="2660904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Predictors Identified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56048" y="2935224"/>
            <a:ext cx="4050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system_charging_vehicles, timestep_sec, and system_total_vehicles dominate load prediction; individual vehicle features contribute minimally.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0040" y="3666744"/>
            <a:ext cx="42519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" y="3666744"/>
            <a:ext cx="4251960" cy="201168"/>
          </a:xfrm>
          <a:prstGeom prst="rect">
            <a:avLst/>
          </a:prstGeom>
          <a:solidFill>
            <a:srgbClr val="186A3E"/>
          </a:solidFill>
          <a:ln w="12700">
            <a:solidFill>
              <a:srgbClr val="186A3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9768" y="3922776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Charging Reduces Peaks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29768" y="4197096"/>
            <a:ext cx="4050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1,169 charging recommendations distributed load across stations, reducing bottlenecks and improving dataset realism for ML training.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846320" y="3666744"/>
            <a:ext cx="42519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846320" y="3666744"/>
            <a:ext cx="4251960" cy="201168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56048" y="3922776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as Digital Twin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56048" y="4197096"/>
            <a:ext cx="4050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SUMO-based synthetic dataset generation is effective for developing countries where real EV charging data is scarce or unavailable.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Recommendations for Future Work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11556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Limitations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0040" y="1508760"/>
            <a:ext cx="41148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508760"/>
            <a:ext cx="54864" cy="6217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7276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Simulation-only dataset — real-world stochastic behavior not fully captured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" y="2258568"/>
            <a:ext cx="41148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2258568"/>
            <a:ext cx="54864" cy="6217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322576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Weather, electricity tariff &amp; driver behavior not modeled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3008376"/>
            <a:ext cx="41148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" y="3008376"/>
            <a:ext cx="54864" cy="6217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072384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infrastructure (no station failures or capacity changes)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" y="3758184"/>
            <a:ext cx="41148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" y="3758184"/>
            <a:ext cx="54864" cy="6217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82219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600-second window limits temporal generalization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54880" y="111556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Research Directions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754880" y="1636776"/>
            <a:ext cx="274320" cy="274320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16367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093208" y="15819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Data Integration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93208" y="183794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IoT sensors at actual charging stations in Khulna/Jashore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54880" y="2350008"/>
            <a:ext cx="274320" cy="274320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2350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093208" y="229514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Deep Learning (CNN-LSTM)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93208" y="25511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spatial + multi-scale temporal dependencies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3063240"/>
            <a:ext cx="274320" cy="274320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093208" y="3008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Reinforcement Learning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093208" y="32644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station assignment &amp; autonomous load balancing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54880" y="3776472"/>
            <a:ext cx="274320" cy="274320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3776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93208" y="37216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Renewable Energy Integration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093208" y="39776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solar-powered stations with energy storage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754880" y="4489704"/>
            <a:ext cx="274320" cy="274320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54880" y="44897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093208" y="44348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Simulation Environment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093208" y="46908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to full-city scale with diverse vehicle types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286000" y="777240"/>
            <a:ext cx="457200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091462"/>
            <a:ext cx="201168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969264"/>
            <a:ext cx="7955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 comprehensive SUMO-based EV simulation modeled Bangladesh's urban mobility (Easy Bikes, E-Rickshaws, E-Vans) with realistic charging infrastructure.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713254"/>
            <a:ext cx="201168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591056"/>
            <a:ext cx="7955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34,020 records across 25 features generated — ready for ML-based system-level load prediction.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335046"/>
            <a:ext cx="201168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2212848"/>
            <a:ext cx="7955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ANN (MLP) achieved the highest precision: R²=0.9967, MAE=19.2 kW, Accuracy=95.28%, F1=0.9234.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956838"/>
            <a:ext cx="201168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2834640"/>
            <a:ext cx="7955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 also excelled (R²=0.9946), confirming linear structure in EV charging load demand.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578630"/>
            <a:ext cx="201168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456432"/>
            <a:ext cx="7955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SUMO simulation serves as an effective digital twin for generating EV datasets in data-scarce developing regions.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4200422"/>
            <a:ext cx="201168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" y="4078224"/>
            <a:ext cx="7955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The "Monitor–Predict–Control" framework provides a practical path to smart grid integration in cities like Khulna.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0" y="4773168"/>
            <a:ext cx="9144000" cy="370332"/>
          </a:xfrm>
          <a:prstGeom prst="rect">
            <a:avLst/>
          </a:prstGeom>
          <a:solidFill>
            <a:srgbClr val="0F2447"/>
          </a:solidFill>
          <a:ln w="12700">
            <a:solidFill>
              <a:srgbClr val="0F2447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9209822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57200" y="2231136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586832" y="3374136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7BA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2286000" y="3154680"/>
            <a:ext cx="457200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0" y="4773168"/>
            <a:ext cx="9144000" cy="370332"/>
          </a:xfrm>
          <a:prstGeom prst="rect">
            <a:avLst/>
          </a:prstGeom>
          <a:solidFill>
            <a:srgbClr val="0F2447"/>
          </a:solidFill>
          <a:ln w="12700">
            <a:solidFill>
              <a:srgbClr val="0F244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7200" y="4846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A7FA8"/>
                </a:solidFill>
              </a:rPr>
              <a:t>EV Charging Load Demand Prediction Using ML in a SUMO-Based Simulation Environment</a:t>
            </a:r>
            <a:endParaRPr lang="en-US" sz="950" dirty="0"/>
          </a:p>
        </p:txBody>
      </p:sp>
      <p:pic>
        <p:nvPicPr>
          <p:cNvPr id="17" name="object 4">
            <a:extLst>
              <a:ext uri="{FF2B5EF4-FFF2-40B4-BE49-F238E27FC236}">
                <a16:creationId xmlns:a16="http://schemas.microsoft.com/office/drawing/2014/main" id="{21A19648-DB8F-F3BA-95F6-E96997741EB7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907198" y="781295"/>
            <a:ext cx="1173232" cy="119380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488</TotalTime>
  <Words>2345</Words>
  <Application>Microsoft Office PowerPoint</Application>
  <PresentationFormat>On-screen Show (16:9)</PresentationFormat>
  <Paragraphs>563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Times New Roman</vt:lpstr>
      <vt:lpstr>Times New Roman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 Charging Load Prediction – Thesis Defense</dc:title>
  <dc:subject>PptxGenJS Presentation</dc:subject>
  <dc:creator>PptxGenJS</dc:creator>
  <cp:lastModifiedBy>Rakesh Biswas</cp:lastModifiedBy>
  <cp:revision>47</cp:revision>
  <dcterms:created xsi:type="dcterms:W3CDTF">2026-04-24T04:43:45Z</dcterms:created>
  <dcterms:modified xsi:type="dcterms:W3CDTF">2026-04-26T04:32:43Z</dcterms:modified>
</cp:coreProperties>
</file>