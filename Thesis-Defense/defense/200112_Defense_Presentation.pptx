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73" r:id="rId2"/>
    <p:sldId id="257" r:id="rId3"/>
    <p:sldId id="258" r:id="rId4"/>
    <p:sldId id="259" r:id="rId5"/>
    <p:sldId id="274" r:id="rId6"/>
    <p:sldId id="276" r:id="rId7"/>
    <p:sldId id="260" r:id="rId8"/>
    <p:sldId id="277" r:id="rId9"/>
    <p:sldId id="261" r:id="rId10"/>
    <p:sldId id="262" r:id="rId11"/>
    <p:sldId id="278" r:id="rId12"/>
    <p:sldId id="263" r:id="rId13"/>
    <p:sldId id="279" r:id="rId14"/>
    <p:sldId id="264" r:id="rId15"/>
    <p:sldId id="265" r:id="rId16"/>
    <p:sldId id="281" r:id="rId17"/>
    <p:sldId id="283" r:id="rId18"/>
    <p:sldId id="282" r:id="rId19"/>
    <p:sldId id="266" r:id="rId20"/>
    <p:sldId id="284" r:id="rId21"/>
    <p:sldId id="285" r:id="rId22"/>
    <p:sldId id="267" r:id="rId23"/>
    <p:sldId id="268" r:id="rId24"/>
    <p:sldId id="269" r:id="rId25"/>
    <p:sldId id="270" r:id="rId26"/>
    <p:sldId id="280" r:id="rId27"/>
    <p:sldId id="27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3A6B"/>
    <a:srgbClr val="0D73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3A6B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B3A6B"/>
                </a:solidFill>
                <a:latin typeface="Arial"/>
              </a:rPr>
              <a:t>Fleet Composition (100 Variants Total)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Vehicles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0E3-4998-AF55-150A25AF2C4A}"/>
              </c:ext>
            </c:extLst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E3-4998-AF55-150A25AF2C4A}"/>
              </c:ext>
            </c:extLst>
          </c:dPt>
          <c:dPt>
            <c:idx val="2"/>
            <c:invertIfNegative val="0"/>
            <c:bubble3D val="0"/>
            <c:spPr>
              <a:solidFill>
                <a:srgbClr val="7BA7B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E3-4998-AF55-150A25AF2C4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Easy Bike</c:v>
                </c:pt>
                <c:pt idx="1">
                  <c:v>E-Rickshaw</c:v>
                </c:pt>
                <c:pt idx="2">
                  <c:v>E-Van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33</c:v>
                </c:pt>
                <c:pt idx="2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0E3-4998-AF55-150A25AF2C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075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3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509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9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06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46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094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5480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9.jpg"/><Relationship Id="rId7" Type="http://schemas.openxmlformats.org/officeDocument/2006/relationships/image" Target="../media/image13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4004" y="2109220"/>
            <a:ext cx="83210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0" y="2897266"/>
            <a:ext cx="9144000" cy="2246234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147436" y="4700016"/>
            <a:ext cx="997528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April 2026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7D0D5F5B-19B9-7784-4289-8D5614ED30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496" y="347472"/>
            <a:ext cx="1173232" cy="1193809"/>
          </a:xfrm>
          <a:prstGeom prst="rect">
            <a:avLst/>
          </a:prstGeom>
        </p:spPr>
      </p:pic>
      <p:sp>
        <p:nvSpPr>
          <p:cNvPr id="8" name="object 5" descr="$PPTXTitle">
            <a:extLst>
              <a:ext uri="{FF2B5EF4-FFF2-40B4-BE49-F238E27FC236}">
                <a16:creationId xmlns:a16="http://schemas.microsoft.com/office/drawing/2014/main" id="{F40F0614-575B-72C8-0718-7BBFD75D94BF}"/>
              </a:ext>
            </a:extLst>
          </p:cNvPr>
          <p:cNvSpPr txBox="1">
            <a:spLocks/>
          </p:cNvSpPr>
          <p:nvPr/>
        </p:nvSpPr>
        <p:spPr>
          <a:xfrm>
            <a:off x="1677826" y="425196"/>
            <a:ext cx="9335110" cy="9094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 err="1"/>
              <a:t>Jashore</a:t>
            </a:r>
            <a:r>
              <a:rPr lang="en-US" sz="2400" spc="-50" dirty="0"/>
              <a:t> </a:t>
            </a:r>
            <a:r>
              <a:rPr lang="en-US" sz="2400" dirty="0"/>
              <a:t>University</a:t>
            </a:r>
            <a:r>
              <a:rPr lang="en-US" sz="2400" spc="-65" dirty="0"/>
              <a:t> </a:t>
            </a:r>
            <a:r>
              <a:rPr lang="en-US" sz="2400" dirty="0"/>
              <a:t>of</a:t>
            </a:r>
            <a:r>
              <a:rPr lang="en-US" sz="2400" spc="-45" dirty="0"/>
              <a:t> </a:t>
            </a:r>
            <a:r>
              <a:rPr lang="en-US" sz="2400" dirty="0"/>
              <a:t>Science</a:t>
            </a:r>
            <a:r>
              <a:rPr lang="en-US" sz="2400" spc="-60" dirty="0"/>
              <a:t> </a:t>
            </a:r>
            <a:r>
              <a:rPr lang="en-US" sz="2400" dirty="0"/>
              <a:t>and</a:t>
            </a:r>
            <a:r>
              <a:rPr lang="en-US" sz="2400" spc="-45" dirty="0"/>
              <a:t> </a:t>
            </a:r>
            <a:r>
              <a:rPr lang="en-US" sz="2400" spc="-10" dirty="0"/>
              <a:t>Technology </a:t>
            </a:r>
          </a:p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/>
              <a:t>Department</a:t>
            </a:r>
            <a:r>
              <a:rPr lang="en-US" sz="2400" spc="-40" dirty="0"/>
              <a:t> </a:t>
            </a:r>
            <a:r>
              <a:rPr lang="en-US" sz="2400" dirty="0"/>
              <a:t>of</a:t>
            </a:r>
            <a:r>
              <a:rPr lang="en-US" sz="2400" spc="-30" dirty="0"/>
              <a:t> </a:t>
            </a:r>
            <a:r>
              <a:rPr lang="en-US" sz="2400" dirty="0"/>
              <a:t>Computer</a:t>
            </a:r>
            <a:r>
              <a:rPr lang="en-US" sz="2400" spc="-55" dirty="0"/>
              <a:t> </a:t>
            </a:r>
            <a:r>
              <a:rPr lang="en-US" sz="2400" dirty="0"/>
              <a:t>Science</a:t>
            </a:r>
            <a:r>
              <a:rPr lang="en-US" sz="2400" spc="-30" dirty="0"/>
              <a:t> </a:t>
            </a:r>
            <a:r>
              <a:rPr lang="en-US" sz="2400" dirty="0"/>
              <a:t>and</a:t>
            </a:r>
            <a:r>
              <a:rPr lang="en-US" sz="2400" spc="-40" dirty="0"/>
              <a:t> </a:t>
            </a:r>
            <a:r>
              <a:rPr lang="en-US" sz="2400" spc="-10" dirty="0"/>
              <a:t>Engineering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3137A86A-ED96-4BFE-5BA3-506413EB0514}"/>
              </a:ext>
            </a:extLst>
          </p:cNvPr>
          <p:cNvSpPr/>
          <p:nvPr/>
        </p:nvSpPr>
        <p:spPr>
          <a:xfrm>
            <a:off x="660865" y="1507379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Load Demand Prediction</a:t>
            </a:r>
            <a:endParaRPr lang="en-US" sz="28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EDC0CC80-426C-BD80-3C6A-003DCC11E890}"/>
              </a:ext>
            </a:extLst>
          </p:cNvPr>
          <p:cNvSpPr/>
          <p:nvPr/>
        </p:nvSpPr>
        <p:spPr>
          <a:xfrm>
            <a:off x="660865" y="2129171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in a SUMO-Based Simulation Environment</a:t>
            </a:r>
            <a:endParaRPr lang="en-US" dirty="0"/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208A7BD8-44B7-CF06-5619-3AFF5C0C8934}"/>
              </a:ext>
            </a:extLst>
          </p:cNvPr>
          <p:cNvSpPr txBox="1"/>
          <p:nvPr/>
        </p:nvSpPr>
        <p:spPr>
          <a:xfrm>
            <a:off x="2538732" y="3024872"/>
            <a:ext cx="2282653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Supervised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 err="1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Monishanker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 Halder 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Assistant Professor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ea typeface="Roboto"/>
              <a:cs typeface="Times New Roman" panose="02020603050405020304" pitchFamily="18" charset="0"/>
              <a:sym typeface="Roboto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AF9EDC5A-AD61-A3D6-3997-10617FF055AB}"/>
              </a:ext>
            </a:extLst>
          </p:cNvPr>
          <p:cNvSpPr txBox="1"/>
          <p:nvPr/>
        </p:nvSpPr>
        <p:spPr>
          <a:xfrm>
            <a:off x="5380556" y="2978755"/>
            <a:ext cx="2509284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Presented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Rakesh Biswas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ID: 200112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Session: 2020-21</a:t>
            </a:r>
          </a:p>
        </p:txBody>
      </p:sp>
    </p:spTree>
    <p:extLst>
      <p:ext uri="{BB962C8B-B14F-4D97-AF65-F5344CB8AC3E}">
        <p14:creationId xmlns:p14="http://schemas.microsoft.com/office/powerpoint/2010/main" val="412740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8696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context, EV growth, Bangladesh perspective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696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gap, goals, and research questions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98094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8696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696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in load modeling, ML forecasting, SUMO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91363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913632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407822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" y="3986784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Simulation Setup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6968" y="4334256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SUMO environment, road network, charging stations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00600" y="1115568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6752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Analysis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6752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Generated dataset, correlation, feature importance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2048256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888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6752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ML Models &amp; Results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6752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Seven models evaluated, comparative analysis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00600" y="2980944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0060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888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36752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&amp; Conclusion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6752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findings, limitations, future 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Why EV charging load prediction matters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 Growth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996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Over 26 million EVs worldwide in 2022 (IEA). Rapid adoption reshapes power grids.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Context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Electric three-wheelers (Easy Bikes, E-Rickshaws, E-Vans) dominate urban mobility in cities like Khulna and Jashore.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980944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80944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540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Pressure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Uncoordinated charging causes voltage violations, transformer overloads, and peak-hour congestion on already stressed distribution networks.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913632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913632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Need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Accurate spatiotemporal load prediction is essential for smart grid planning, station placement, and demand response.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115568"/>
            <a:ext cx="324612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23560" y="1161288"/>
            <a:ext cx="3154680" cy="352044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577840" y="46634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Khulna City Road Network (OSM)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8503920" cy="10515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Rapidly growing EV adoption, especially electric three-wheelers in Bangladesh, creates highly dynamic and nonlinear charging load patterns. Existing approaches lack comprehensive simulation-based datasets and multi-model benchmarks tailored to developing-country urban environments.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004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 a SUMO-based EV simulation with realistic charging stations, queue management and smart rerouting logic.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4930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rule-based smart charging system based on proximity, slot availability and SOC priority.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4334256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43342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242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with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TraCI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57800" y="2676525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comprehensive ML-ready dataset capturing per-vehicle and system-level features across a 600 s simulation run.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3407283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Analyze model performance using MAE, RMSE, R², MAPE, Accuracy, and Weighted F1-Score.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CB0784F-2D38-ACF8-B4E7-B22405C5A34D}"/>
              </a:ext>
            </a:extLst>
          </p:cNvPr>
          <p:cNvSpPr/>
          <p:nvPr/>
        </p:nvSpPr>
        <p:spPr>
          <a:xfrm>
            <a:off x="4847013" y="4341182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C1B52A45-BF20-1753-6EAE-CCA82E08E771}"/>
              </a:ext>
            </a:extLst>
          </p:cNvPr>
          <p:cNvSpPr/>
          <p:nvPr/>
        </p:nvSpPr>
        <p:spPr>
          <a:xfrm>
            <a:off x="4865301" y="434118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BD888A75-0374-1924-8A01-9EC16F0B3B05}"/>
              </a:ext>
            </a:extLst>
          </p:cNvPr>
          <p:cNvSpPr/>
          <p:nvPr/>
        </p:nvSpPr>
        <p:spPr>
          <a:xfrm>
            <a:off x="5258493" y="4240217"/>
            <a:ext cx="3646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evaluate 7 ML / DL models (LR, DT, RF, XGBoost, ANN, LSTM, GRU) for predicting system-level EV charging load.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891183"/>
              </p:ext>
            </p:extLst>
          </p:nvPr>
        </p:nvGraphicFramePr>
        <p:xfrm>
          <a:off x="382386" y="1235270"/>
          <a:ext cx="8503920" cy="371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Vulfovich</a:t>
                      </a:r>
                      <a:r>
                        <a:rPr lang="en-US" sz="1100" dirty="0"/>
                        <a:t> et al. (2021)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Simulation Modelling Practice and Theory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4.719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Modified First Harmonic Approximation (MFHA) modeling</a:t>
                      </a:r>
                    </a:p>
                    <a:p>
                      <a:r>
                        <a:rPr lang="en-US" sz="1100" dirty="0"/>
                        <a:t>- SN-compensated inductive power transfer links</a:t>
                      </a:r>
                    </a:p>
                    <a:p>
                      <a:r>
                        <a:rPr lang="en-US" sz="1100" dirty="0"/>
                        <a:t>- Load-independent-voltage-output frequency systems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Advanced modeling of power transfer links</a:t>
                      </a:r>
                    </a:p>
                    <a:p>
                      <a:r>
                        <a:rPr lang="en-US" sz="1100" dirty="0"/>
                        <a:t>- Load-independent voltage output techniques</a:t>
                      </a:r>
                    </a:p>
                    <a:p>
                      <a:r>
                        <a:rPr lang="en-US" sz="1100" dirty="0"/>
                        <a:t>- Simulation frameworks for inductive charging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Focused on component-level analysis rather than system-level</a:t>
                      </a:r>
                    </a:p>
                    <a:p>
                      <a:r>
                        <a:rPr lang="en-US" sz="1100" dirty="0"/>
                        <a:t>- Limited scalability for grid integration</a:t>
                      </a:r>
                    </a:p>
                    <a:p>
                      <a:r>
                        <a:rPr lang="en-US" sz="1100" dirty="0"/>
                        <a:t>- Insufficient consideration of multiple charging scenarios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Schreiber &amp; </a:t>
                      </a:r>
                      <a:r>
                        <a:rPr lang="en-US" sz="1100" dirty="0" err="1"/>
                        <a:t>Ulbig</a:t>
                      </a:r>
                      <a:r>
                        <a:rPr lang="en-US" sz="1100" dirty="0"/>
                        <a:t>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7.762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Model selection, adaptation, and combination</a:t>
                      </a:r>
                    </a:p>
                    <a:p>
                      <a:r>
                        <a:rPr lang="en-US" sz="1100" dirty="0"/>
                        <a:t>- Transfer learning for renewable forecasts</a:t>
                      </a:r>
                    </a:p>
                    <a:p>
                      <a:r>
                        <a:rPr lang="en-US" sz="1100" dirty="0"/>
                        <a:t>- Wind and PV power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Transfer learning techniques for power systems</a:t>
                      </a:r>
                    </a:p>
                    <a:p>
                      <a:r>
                        <a:rPr lang="en-US" sz="1100" dirty="0"/>
                        <a:t>- Model adaptation methodologies</a:t>
                      </a:r>
                    </a:p>
                    <a:p>
                      <a:r>
                        <a:rPr lang="en-US" sz="1100" dirty="0"/>
                        <a:t>- Renewable energy integration framework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 on generation rather than load prediction</a:t>
                      </a:r>
                    </a:p>
                    <a:p>
                      <a:r>
                        <a:rPr lang="en-US" sz="1100" dirty="0"/>
                        <a:t>- Limited application to BPV charging load profiles</a:t>
                      </a:r>
                    </a:p>
                    <a:p>
                      <a:r>
                        <a:rPr lang="en-US" sz="1100" dirty="0"/>
                        <a:t>- Insufficient integration of charging behavior patterns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53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61443"/>
              </p:ext>
            </p:extLst>
          </p:nvPr>
        </p:nvGraphicFramePr>
        <p:xfrm>
          <a:off x="382386" y="1235270"/>
          <a:ext cx="8503920" cy="3792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Klausmann</a:t>
                      </a:r>
                      <a:r>
                        <a:rPr lang="en-US" sz="1100" dirty="0"/>
                        <a:t> et al.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3.252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Ensemble deep learning for hour-ahead load forecasting</a:t>
                      </a:r>
                    </a:p>
                    <a:p>
                      <a:r>
                        <a:rPr lang="en-US" sz="1100" dirty="0"/>
                        <a:t>- Feature selection approach</a:t>
                      </a:r>
                    </a:p>
                    <a:p>
                      <a:r>
                        <a:rPr lang="en-US" sz="1100" dirty="0"/>
                        <a:t>- Comparative analysis with state-of-the-art methods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Novel ensemble deep learning architecture&lt;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Effective feature selection methodology&lt;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Comparative benchmarking of forecasting models</a:t>
                      </a:r>
                    </a:p>
                    <a:p>
                      <a:r>
                        <a:rPr lang="en-US" sz="1100" dirty="0"/>
                        <a:t>etc. 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Not specifically focused on BPV charging loads</a:t>
                      </a:r>
                    </a:p>
                    <a:p>
                      <a:r>
                        <a:rPr lang="en-US" sz="1100" dirty="0"/>
                        <a:t>- Limited temporal resolution (hour-ahead only)</a:t>
                      </a:r>
                    </a:p>
                    <a:p>
                      <a:r>
                        <a:rPr lang="en-US" sz="1100" dirty="0"/>
                        <a:t>- Lack of spatial distribution consideration in grid 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Rath et al. (2024)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Electric Power Systems Research Quartile:Q1</a:t>
                      </a:r>
                    </a:p>
                    <a:p>
                      <a:r>
                        <a:rPr lang="en-US" sz="1100" dirty="0"/>
                        <a:t>Impact Factor: 4.630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Reduced complexity model predictive direct power control</a:t>
                      </a:r>
                    </a:p>
                    <a:p>
                      <a:r>
                        <a:rPr lang="en-US" sz="1100" dirty="0"/>
                        <a:t>- Systems for unbalanced grid conditions</a:t>
                      </a:r>
                    </a:p>
                    <a:p>
                      <a:r>
                        <a:rPr lang="en-US" sz="1100" dirty="0"/>
                        <a:t>- Grid stabilization techniques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Grid stabilization under unbalanced conditions</a:t>
                      </a:r>
                    </a:p>
                    <a:p>
                      <a:r>
                        <a:rPr lang="en-US" sz="1100" dirty="0"/>
                        <a:t>- Reduced complexity control algorithms</a:t>
                      </a:r>
                    </a:p>
                    <a:p>
                      <a:r>
                        <a:rPr lang="en-US" sz="1100" dirty="0"/>
                        <a:t>- Direct power control methodologies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Limited focus on demand-side prediction</a:t>
                      </a:r>
                    </a:p>
                    <a:p>
                      <a:r>
                        <a:rPr lang="en-US" sz="1100" dirty="0"/>
                        <a:t>- Insufficient consideration of BPV charging patterns</a:t>
                      </a:r>
                    </a:p>
                    <a:p>
                      <a:r>
                        <a:rPr lang="en-US" sz="1100" dirty="0"/>
                        <a:t>- Lack of machine learning integration for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01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"Monitor – Predict – Control"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389120" cy="38953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206240" cy="3753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1152144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66360" y="13898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specs, charging patterns, road layout of Khulna &amp; Jashore cities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1719072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66360" y="1719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66360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v1.25 + TraCI, Python 3.10, Windows 10 workstation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2286000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6636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Road Network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66360" y="25237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nodes, 11 bidirectional edges, 8,654 m, based on Khulna arterials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92040" y="2852928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66360" y="281039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Placement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166360" y="3101305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stations (25–50 kW), 62 charging + 49 waiting slots across 5 edges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892040" y="3419856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45A8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66360" y="339859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Configuration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166360" y="367886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EVs: 34 Easy Bikes, + 33 E-Rickshaws + 33 E-Vans; heterogeneous fleet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92040" y="3986784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86A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66360" y="39867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Logic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166360" y="42245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SOC-based routing (30% threshold → 70% target), FIFO queue promotion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4553712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66360" y="45537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via TraCI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166360" y="47914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 run, 1-step monitoring; 34,020 records generated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8,654 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Road Network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5688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75688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21408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31336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31336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877056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86984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86984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32704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32704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42632" y="1115568"/>
            <a:ext cx="14813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42632" y="1115568"/>
            <a:ext cx="1453896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88352" y="13716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388352" y="19202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Generated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685594"/>
            <a:ext cx="4096096" cy="234360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761488"/>
            <a:ext cx="3931920" cy="2180844"/>
          </a:xfrm>
          <a:prstGeom prst="rect">
            <a:avLst/>
          </a:prstGeom>
        </p:spPr>
      </p:pic>
      <p:sp>
        <p:nvSpPr>
          <p:cNvPr id="31" name="Shape 24">
            <a:extLst>
              <a:ext uri="{FF2B5EF4-FFF2-40B4-BE49-F238E27FC236}">
                <a16:creationId xmlns:a16="http://schemas.microsoft.com/office/drawing/2014/main" id="{2C00A607-F83C-407E-74A2-CAFCC7C9B99E}"/>
              </a:ext>
            </a:extLst>
          </p:cNvPr>
          <p:cNvSpPr/>
          <p:nvPr/>
        </p:nvSpPr>
        <p:spPr>
          <a:xfrm>
            <a:off x="4571584" y="2685594"/>
            <a:ext cx="4196265" cy="234360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5E946DA-1E01-2CCB-50C9-DAD10F4A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144491"/>
              </p:ext>
            </p:extLst>
          </p:nvPr>
        </p:nvGraphicFramePr>
        <p:xfrm>
          <a:off x="4663024" y="2807208"/>
          <a:ext cx="3982212" cy="2143735"/>
        </p:xfrm>
        <a:graphic>
          <a:graphicData uri="http://schemas.openxmlformats.org/drawingml/2006/table">
            <a:tbl>
              <a:tblPr/>
              <a:tblGrid>
                <a:gridCol w="1031194">
                  <a:extLst>
                    <a:ext uri="{9D8B030D-6E8A-4147-A177-3AD203B41FA5}">
                      <a16:colId xmlns:a16="http://schemas.microsoft.com/office/drawing/2014/main" val="2678028350"/>
                    </a:ext>
                  </a:extLst>
                </a:gridCol>
                <a:gridCol w="1392382">
                  <a:extLst>
                    <a:ext uri="{9D8B030D-6E8A-4147-A177-3AD203B41FA5}">
                      <a16:colId xmlns:a16="http://schemas.microsoft.com/office/drawing/2014/main" val="366697314"/>
                    </a:ext>
                  </a:extLst>
                </a:gridCol>
                <a:gridCol w="1558636">
                  <a:extLst>
                    <a:ext uri="{9D8B030D-6E8A-4147-A177-3AD203B41FA5}">
                      <a16:colId xmlns:a16="http://schemas.microsoft.com/office/drawing/2014/main" val="2338976362"/>
                    </a:ext>
                  </a:extLst>
                </a:gridCol>
              </a:tblGrid>
              <a:tr h="222214">
                <a:tc>
                  <a:txBody>
                    <a:bodyPr/>
                    <a:lstStyle/>
                    <a:p>
                      <a:r>
                        <a:rPr lang="en-US" sz="1000" b="1" dirty="0"/>
                        <a:t>Direction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Route ID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Edge Sequence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848731"/>
                  </a:ext>
                </a:extLst>
              </a:tr>
              <a:tr h="207867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route1_forward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E0 → E1 → E2 → E3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658536"/>
                  </a:ext>
                </a:extLst>
              </a:tr>
              <a:tr h="207867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route2_forward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E0 → E1 → E9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917509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route3_forward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E4 → E5 → E6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300909"/>
                  </a:ext>
                </a:extLst>
              </a:tr>
              <a:tr h="207867">
                <a:tc>
                  <a:txBody>
                    <a:bodyPr/>
                    <a:lstStyle/>
                    <a:p>
                      <a:r>
                        <a:rPr lang="en-US" sz="90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route4_forward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E0 → E10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57859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route1_reverse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-E3 → -E2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827436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route2_reverse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-E8 → -E9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108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route3_reverse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-E8 → -E7 → -E6 → -E5 → -E4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8347584"/>
                  </a:ext>
                </a:extLst>
              </a:tr>
              <a:tr h="249051">
                <a:tc>
                  <a:txBody>
                    <a:bodyPr/>
                    <a:lstStyle/>
                    <a:p>
                      <a:r>
                        <a:rPr lang="en-US" sz="900" dirty="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route4_reverse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-E8 → -E7 → -E10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4480"/>
                  </a:ext>
                </a:extLst>
              </a:tr>
            </a:tbl>
          </a:graphicData>
        </a:graphic>
      </p:graphicFrame>
      <p:sp>
        <p:nvSpPr>
          <p:cNvPr id="29" name="Text 26">
            <a:extLst>
              <a:ext uri="{FF2B5EF4-FFF2-40B4-BE49-F238E27FC236}">
                <a16:creationId xmlns:a16="http://schemas.microsoft.com/office/drawing/2014/main" id="{2D9F870D-4064-CA48-B5AC-D08D8232FE1A}"/>
              </a:ext>
            </a:extLst>
          </p:cNvPr>
          <p:cNvSpPr/>
          <p:nvPr/>
        </p:nvSpPr>
        <p:spPr>
          <a:xfrm>
            <a:off x="4604837" y="2331722"/>
            <a:ext cx="42191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Definitions and Edge Sequences</a:t>
            </a:r>
            <a:endParaRPr lang="en-US" sz="13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2485AC8A-5099-9FD8-62CC-BBF59D435A2B}"/>
              </a:ext>
            </a:extLst>
          </p:cNvPr>
          <p:cNvSpPr/>
          <p:nvPr/>
        </p:nvSpPr>
        <p:spPr>
          <a:xfrm>
            <a:off x="361876" y="2328257"/>
            <a:ext cx="42191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</a:t>
            </a:r>
            <a:r>
              <a:rPr lang="en-US" sz="13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netedit</a:t>
            </a: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Custom Microscopic Road Network</a:t>
            </a:r>
          </a:p>
        </p:txBody>
      </p:sp>
    </p:spTree>
    <p:extLst>
      <p:ext uri="{BB962C8B-B14F-4D97-AF65-F5344CB8AC3E}">
        <p14:creationId xmlns:p14="http://schemas.microsoft.com/office/powerpoint/2010/main" val="119674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39" y="960120"/>
            <a:ext cx="8680561" cy="45719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1426464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320040" y="488788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SUMO netedit – Custom Microscopic Road Network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407408" y="10744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Configuration</a:t>
            </a:r>
            <a:endParaRPr lang="en-US" sz="1300" dirty="0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41F96497-7750-3F8E-F9AB-94181039A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793762"/>
              </p:ext>
            </p:extLst>
          </p:nvPr>
        </p:nvGraphicFramePr>
        <p:xfrm>
          <a:off x="4343400" y="1426464"/>
          <a:ext cx="4657201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1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84"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Station ID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Edge ID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Power (kW)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Charging Slots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Waiting Slots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pa_2_rev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pa_3_rev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pa_6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pa_6_rev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pa_7_rev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pa_8_rev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35" name="Picture 34">
            <a:extLst>
              <a:ext uri="{FF2B5EF4-FFF2-40B4-BE49-F238E27FC236}">
                <a16:creationId xmlns:a16="http://schemas.microsoft.com/office/drawing/2014/main" id="{5B2B8E6E-A2F0-4855-2C86-CCE507549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15" y="1537855"/>
            <a:ext cx="3753649" cy="3261706"/>
          </a:xfrm>
          <a:prstGeom prst="rect">
            <a:avLst/>
          </a:prstGeom>
        </p:spPr>
      </p:pic>
      <p:sp>
        <p:nvSpPr>
          <p:cNvPr id="36" name="Text 26">
            <a:extLst>
              <a:ext uri="{FF2B5EF4-FFF2-40B4-BE49-F238E27FC236}">
                <a16:creationId xmlns:a16="http://schemas.microsoft.com/office/drawing/2014/main" id="{E6BEC7DC-C1F2-DBC7-B13C-66F843815E23}"/>
              </a:ext>
            </a:extLst>
          </p:cNvPr>
          <p:cNvSpPr/>
          <p:nvPr/>
        </p:nvSpPr>
        <p:spPr>
          <a:xfrm>
            <a:off x="372268" y="10605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Implementation in SUMO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Fleet &amp; Smart Charging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320040" y="1115568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787980"/>
              </p:ext>
            </p:extLst>
          </p:nvPr>
        </p:nvGraphicFramePr>
        <p:xfrm>
          <a:off x="330431" y="3701658"/>
          <a:ext cx="8503920" cy="1295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Bike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E-Rickshaw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E-Van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(Wh)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 – 7,200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(kg)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– 354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Power (W)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– 1,200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– 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– 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Speed (km/h)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617720" y="980485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Decision Logic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17720" y="1373677"/>
            <a:ext cx="1417320" cy="2560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645152" y="13736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&lt; 30%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089904" y="13919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re-routing to nearest station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617720" y="16937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6937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089904" y="17120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station has free charging slot → route there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201375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645152" y="20137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089904" y="203204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full → check 2nd nearest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233379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45152" y="233379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089904" y="235208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charging slot → route there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17720" y="265383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45152" y="265383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6089904" y="26721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waiting slot → enqueue (FIFO)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17720" y="297387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9738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5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089904" y="29921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full → no reroute; continue current route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2939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645152" y="32939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SOC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6089904" y="33122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session ends at 70% SOC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Fleet &amp; Smart Charging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F9E6A33-102F-094C-7C1F-377EC7E5D1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535627"/>
              </p:ext>
            </p:extLst>
          </p:nvPr>
        </p:nvGraphicFramePr>
        <p:xfrm>
          <a:off x="457200" y="1371600"/>
          <a:ext cx="83210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Parameter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Easy Bike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E-Rickshaw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rPr sz="1050" dirty="0"/>
                        <a:t>E-Van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Body Dimensions (L×W×H)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2.5×1.5×1.4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2.3×1.0×1.8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2.4×1.3×0.8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Vehicle Mass (kg)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345 – 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198 – 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198 – 219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 dirty="0"/>
                        <a:t>Battery Capacity (</a:t>
                      </a:r>
                      <a:r>
                        <a:rPr sz="1050" dirty="0" err="1"/>
                        <a:t>Wh</a:t>
                      </a:r>
                      <a:r>
                        <a:rPr sz="105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5,760 – 7,200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5,760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Max Power 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1,000 – 1,200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900 – 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800 – 900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Acceleration (m/s²)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1.15 – 1.31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0.58 –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0.68 –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Deceleration (m/s²)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2.45 – 2.58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2.48 – 2.67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2.58 – 2.77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Air Drag Coeff. (Cd)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0.727 – 0.760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0.804 – 0.910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0.754 – 0.860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Avg. Propulsion Eff.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0.890 – 0.896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0.830 – 0.834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0.820 – 0.826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Avg. Recup. Eff.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0.745 – 0.751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0.650 – 0.656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0.550 – 0.556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Const. Power Intake 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80 – 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29 – 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24 – 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Front Surface Area (m²)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Reaction Time (τ)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1.88 – 1.94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1.72 – 1.76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0.87 – 0.92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Visual Color (SUMO-GUI)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Magenta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dirty="0"/>
                        <a:t>Blue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30" name="Text 3">
            <a:extLst>
              <a:ext uri="{FF2B5EF4-FFF2-40B4-BE49-F238E27FC236}">
                <a16:creationId xmlns:a16="http://schemas.microsoft.com/office/drawing/2014/main" id="{5BEE8C00-AFD0-D2C9-4134-FCCBB1310127}"/>
              </a:ext>
            </a:extLst>
          </p:cNvPr>
          <p:cNvSpPr/>
          <p:nvPr/>
        </p:nvSpPr>
        <p:spPr>
          <a:xfrm>
            <a:off x="2478232" y="980485"/>
            <a:ext cx="4187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Parameter Configuration in SUMO (Averaged Values)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7821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System Load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from a 600-second SUMO simulation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4832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84832" y="1115568"/>
            <a:ext cx="1764792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130552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8336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72977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1268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48701" y="16945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Time Steps (s)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955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9167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4105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1,340 kW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109413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Peak Load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7478" y="1115568"/>
            <a:ext cx="176479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57087" y="1115568"/>
            <a:ext cx="1764792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461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723.8 kW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98897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Mean Load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2221992"/>
            <a:ext cx="8503920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276024"/>
            <a:ext cx="8321040" cy="2552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904925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/>
              <a:t>Figure: System Total EV Charging Load over Simulation Time (1–600 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System Load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from a 600-second SUMO simulation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1346660"/>
            <a:ext cx="8503920" cy="366674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53FCFC3-CE62-A21C-7469-2E846B87B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29377"/>
              </p:ext>
            </p:extLst>
          </p:nvPr>
        </p:nvGraphicFramePr>
        <p:xfrm>
          <a:off x="457200" y="1463040"/>
          <a:ext cx="8229600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6512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sz="1200" dirty="0"/>
                        <a:t>Property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rPr sz="1200" dirty="0"/>
                        <a:t>Value</a:t>
                      </a:r>
                    </a:p>
                  </a:txBody>
                  <a:tcPr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Total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34,020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Number of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Unique vehicles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Simulation duration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 – 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19,710 (57.9%)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Charging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11,980 (35.2%)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Waiting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1,720 (5.1%)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Status: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610 (1.8%)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System load: Minimum 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0.00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System load: Mean 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723.82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6512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/>
                        <a:t>System load: Maximum 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  <a:r>
                        <a:rPr sz="1200" dirty="0"/>
                        <a:t>1,340.00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0" name="Text 3">
            <a:extLst>
              <a:ext uri="{FF2B5EF4-FFF2-40B4-BE49-F238E27FC236}">
                <a16:creationId xmlns:a16="http://schemas.microsoft.com/office/drawing/2014/main" id="{86FAA006-E26B-B758-37E2-44C53E0ACA17}"/>
              </a:ext>
            </a:extLst>
          </p:cNvPr>
          <p:cNvSpPr/>
          <p:nvPr/>
        </p:nvSpPr>
        <p:spPr>
          <a:xfrm>
            <a:off x="2478232" y="1011658"/>
            <a:ext cx="4187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Load Demand Dataset Summary</a:t>
            </a:r>
          </a:p>
        </p:txBody>
      </p:sp>
    </p:spTree>
    <p:extLst>
      <p:ext uri="{BB962C8B-B14F-4D97-AF65-F5344CB8AC3E}">
        <p14:creationId xmlns:p14="http://schemas.microsoft.com/office/powerpoint/2010/main" val="1084397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Correlation &amp; Importance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06240" cy="3648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02336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4800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Pearson Correlation Heatmap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1115568"/>
            <a:ext cx="41148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1188720"/>
            <a:ext cx="3931920" cy="344728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" y="4828032"/>
            <a:ext cx="4206240" cy="219456"/>
          </a:xfrm>
          <a:prstGeom prst="rect">
            <a:avLst/>
          </a:prstGeom>
          <a:solidFill>
            <a:srgbClr val="E8F0FE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4709160" y="481660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timestep_sec, system_total_vehicles  →  top XGBoost features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709160" y="496163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Speed, acceleration, SOC  →  low marginal importance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</a:t>
            </a:r>
            <a:r>
              <a:rPr lang="en-US" sz="13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evaluated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Ridge (α=100)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25.7 / R²=0.9946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09397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93976"/>
            <a:ext cx="54864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max_depth=3, min_samples=30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33.5 / R²=0.9904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4495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44952"/>
            <a:ext cx="54864" cy="804672"/>
          </a:xfrm>
          <a:prstGeom prst="rect">
            <a:avLst/>
          </a:prstGeom>
          <a:solidFill>
            <a:srgbClr val="7BA7BC"/>
          </a:solidFill>
          <a:ln w="12700">
            <a:solidFill>
              <a:srgbClr val="7BA7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50 trees, max_depth=3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39.7 / R²=0.9878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99592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995928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" y="43434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lr=0.05, depth=2, L1+L2 reg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056" y="454456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41.7 / R²=0.9854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1143000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114300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★ BEST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7433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(Best Model)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7433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128→64→32, BN+Dropout(0.2)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7433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19.2 / R²=0.9967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093976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093976"/>
            <a:ext cx="54864" cy="8046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7433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7433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84.2 / R²=0.9365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044952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3044952"/>
            <a:ext cx="54864" cy="804672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97433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7433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86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81.5 / R²=0.9444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6B"/>
                </a:solidFill>
              </a:rPr>
              <a:t>Actual vs. Predicted — Classical Models (5-Fold CV)</a:t>
            </a:r>
          </a:p>
        </p:txBody>
      </p:sp>
      <p:sp>
        <p:nvSpPr>
          <p:cNvPr id="4" name="Div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Card0"/>
          <p:cNvSpPr/>
          <p:nvPr/>
        </p:nvSpPr>
        <p:spPr>
          <a:xfrm>
            <a:off x="260000" y="1076576"/>
            <a:ext cx="4200000" cy="38657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g0" descr="scatter_linear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00" y="1143909"/>
            <a:ext cx="4100000" cy="2819837"/>
          </a:xfrm>
          <a:prstGeom prst="rect">
            <a:avLst/>
          </a:prstGeom>
        </p:spPr>
      </p:pic>
      <p:sp>
        <p:nvSpPr>
          <p:cNvPr id="12" name="Name0"/>
          <p:cNvSpPr/>
          <p:nvPr/>
        </p:nvSpPr>
        <p:spPr>
          <a:xfrm>
            <a:off x="310000" y="3915117"/>
            <a:ext cx="410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900" b="1" dirty="0">
                <a:solidFill>
                  <a:srgbClr val="1E293B"/>
                </a:solidFill>
              </a:rPr>
              <a:t>Linear Regression</a:t>
            </a:r>
            <a:endParaRPr lang="en-US" sz="800" b="1" dirty="0">
              <a:solidFill>
                <a:srgbClr val="0D7377"/>
              </a:solidFill>
            </a:endParaRPr>
          </a:p>
        </p:txBody>
      </p:sp>
      <p:sp>
        <p:nvSpPr>
          <p:cNvPr id="14" name="Det0"/>
          <p:cNvSpPr/>
          <p:nvPr/>
        </p:nvSpPr>
        <p:spPr>
          <a:xfrm>
            <a:off x="347296" y="4329141"/>
            <a:ext cx="4100000" cy="533803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Points hug y=x tightly across full 0–1340 kW range.</a:t>
            </a:r>
          </a:p>
          <a:p>
            <a:pPr marL="0" indent="0" algn="l">
              <a:buNone/>
            </a:pPr>
            <a:r>
              <a:rPr lang="en-US" sz="1000" b="0" dirty="0"/>
              <a:t>• Ridge regularization (α=100) prevents overfit.</a:t>
            </a:r>
          </a:p>
          <a:p>
            <a:pPr marL="0" indent="0" algn="l">
              <a:buNone/>
            </a:pPr>
            <a:r>
              <a:rPr lang="en-US" sz="1000" b="0" dirty="0"/>
              <a:t>• Confirms strong linear structure in charging load data.</a:t>
            </a:r>
          </a:p>
        </p:txBody>
      </p:sp>
      <p:sp>
        <p:nvSpPr>
          <p:cNvPr id="15" name="Card1"/>
          <p:cNvSpPr/>
          <p:nvPr/>
        </p:nvSpPr>
        <p:spPr>
          <a:xfrm>
            <a:off x="4580000" y="1076576"/>
            <a:ext cx="4200000" cy="38657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Img1" descr="scatter_decision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000" y="1143910"/>
            <a:ext cx="4100000" cy="2819836"/>
          </a:xfrm>
          <a:prstGeom prst="rect">
            <a:avLst/>
          </a:prstGeom>
        </p:spPr>
      </p:pic>
      <p:sp>
        <p:nvSpPr>
          <p:cNvPr id="17" name="Name1"/>
          <p:cNvSpPr/>
          <p:nvPr/>
        </p:nvSpPr>
        <p:spPr>
          <a:xfrm>
            <a:off x="4630000" y="3915117"/>
            <a:ext cx="410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900" b="1" dirty="0">
                <a:solidFill>
                  <a:srgbClr val="1E293B"/>
                </a:solidFill>
              </a:rPr>
              <a:t>Decision Tree</a:t>
            </a:r>
            <a:endParaRPr lang="en-US" sz="800" b="1" dirty="0">
              <a:solidFill>
                <a:srgbClr val="0D7377"/>
              </a:solidFill>
            </a:endParaRPr>
          </a:p>
        </p:txBody>
      </p:sp>
      <p:sp>
        <p:nvSpPr>
          <p:cNvPr id="19" name="Det1"/>
          <p:cNvSpPr/>
          <p:nvPr/>
        </p:nvSpPr>
        <p:spPr>
          <a:xfrm>
            <a:off x="4696704" y="4331641"/>
            <a:ext cx="4100000" cy="533803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Stepped horizontal bands — signature of max_depth=3 leaf nodes.</a:t>
            </a:r>
          </a:p>
          <a:p>
            <a:pPr marL="0" indent="0" algn="l">
              <a:buNone/>
            </a:pPr>
            <a:r>
              <a:rPr lang="en-US" sz="1000" b="0" dirty="0"/>
              <a:t>• High R² but limited prediction granularity.</a:t>
            </a:r>
          </a:p>
          <a:p>
            <a:pPr marL="0" indent="0" algn="l">
              <a:buNone/>
            </a:pPr>
            <a:r>
              <a:rPr lang="en-US" sz="1000" b="0" dirty="0"/>
              <a:t>• Weakest scatter density among classical models.</a:t>
            </a:r>
          </a:p>
        </p:txBody>
      </p:sp>
      <p:sp>
        <p:nvSpPr>
          <p:cNvPr id="7" name="Name0">
            <a:extLst>
              <a:ext uri="{FF2B5EF4-FFF2-40B4-BE49-F238E27FC236}">
                <a16:creationId xmlns:a16="http://schemas.microsoft.com/office/drawing/2014/main" id="{3FDDE3C9-C5CA-3867-2971-D2B03A40767E}"/>
              </a:ext>
            </a:extLst>
          </p:cNvPr>
          <p:cNvSpPr/>
          <p:nvPr/>
        </p:nvSpPr>
        <p:spPr>
          <a:xfrm>
            <a:off x="306535" y="4067517"/>
            <a:ext cx="410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800" b="1" dirty="0">
                <a:solidFill>
                  <a:srgbClr val="0D7377"/>
                </a:solidFill>
              </a:rPr>
              <a:t>R²=0.9946 | MAE=25.70 kW | RMSE=32.69 kW | Acc=94.53%</a:t>
            </a:r>
          </a:p>
        </p:txBody>
      </p:sp>
      <p:sp>
        <p:nvSpPr>
          <p:cNvPr id="8" name="Name1">
            <a:extLst>
              <a:ext uri="{FF2B5EF4-FFF2-40B4-BE49-F238E27FC236}">
                <a16:creationId xmlns:a16="http://schemas.microsoft.com/office/drawing/2014/main" id="{896A6D44-AE34-158E-B7F9-FF84AE70E2EF}"/>
              </a:ext>
            </a:extLst>
          </p:cNvPr>
          <p:cNvSpPr/>
          <p:nvPr/>
        </p:nvSpPr>
        <p:spPr>
          <a:xfrm>
            <a:off x="4626535" y="4067517"/>
            <a:ext cx="410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800" b="1" dirty="0">
                <a:solidFill>
                  <a:srgbClr val="0D7377"/>
                </a:solidFill>
              </a:rPr>
              <a:t>R²=0.9904 | MAE=33.53 kW | RMSE=43.55 kW | Acc=92.61%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6B"/>
                </a:solidFill>
              </a:rPr>
              <a:t>Actual vs. Predicted — Classical Models (5-Fold CV)</a:t>
            </a:r>
          </a:p>
        </p:txBody>
      </p:sp>
      <p:sp>
        <p:nvSpPr>
          <p:cNvPr id="4" name="Div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Card2"/>
          <p:cNvSpPr/>
          <p:nvPr/>
        </p:nvSpPr>
        <p:spPr>
          <a:xfrm>
            <a:off x="260000" y="1091045"/>
            <a:ext cx="4200000" cy="395893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1" name="Img2" descr="scatter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00" y="1171750"/>
            <a:ext cx="4100000" cy="2880705"/>
          </a:xfrm>
          <a:prstGeom prst="rect">
            <a:avLst/>
          </a:prstGeom>
        </p:spPr>
      </p:pic>
      <p:sp>
        <p:nvSpPr>
          <p:cNvPr id="22" name="Name2"/>
          <p:cNvSpPr/>
          <p:nvPr/>
        </p:nvSpPr>
        <p:spPr>
          <a:xfrm>
            <a:off x="310000" y="4125078"/>
            <a:ext cx="3971055" cy="1735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900" b="1" dirty="0">
                <a:solidFill>
                  <a:srgbClr val="1E293B"/>
                </a:solidFill>
              </a:rPr>
              <a:t>Random Forest</a:t>
            </a:r>
          </a:p>
        </p:txBody>
      </p:sp>
      <p:sp>
        <p:nvSpPr>
          <p:cNvPr id="24" name="Det2"/>
          <p:cNvSpPr/>
          <p:nvPr/>
        </p:nvSpPr>
        <p:spPr>
          <a:xfrm>
            <a:off x="310000" y="4524751"/>
            <a:ext cx="4100000" cy="45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Ensemble averaging smooths Decision Tree stepped pattern.</a:t>
            </a:r>
          </a:p>
          <a:p>
            <a:pPr marL="0" indent="0" algn="l">
              <a:buNone/>
            </a:pPr>
            <a:r>
              <a:rPr lang="en-US" sz="1000" b="0" dirty="0"/>
              <a:t>• Mild spread visible in the 800–1100 kW region.</a:t>
            </a:r>
          </a:p>
          <a:p>
            <a:pPr marL="0" indent="0" algn="l">
              <a:buNone/>
            </a:pPr>
            <a:r>
              <a:rPr lang="en-US" sz="1000" b="0" dirty="0"/>
              <a:t>• Constrained depth &amp; features ensure honest generalization.</a:t>
            </a:r>
          </a:p>
        </p:txBody>
      </p:sp>
      <p:sp>
        <p:nvSpPr>
          <p:cNvPr id="25" name="Card3"/>
          <p:cNvSpPr/>
          <p:nvPr/>
        </p:nvSpPr>
        <p:spPr>
          <a:xfrm>
            <a:off x="4580000" y="1091045"/>
            <a:ext cx="4200000" cy="395893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6" name="Img3" descr="scatter_xg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000" y="1171750"/>
            <a:ext cx="4100000" cy="2880705"/>
          </a:xfrm>
          <a:prstGeom prst="rect">
            <a:avLst/>
          </a:prstGeom>
        </p:spPr>
      </p:pic>
      <p:sp>
        <p:nvSpPr>
          <p:cNvPr id="27" name="Name3"/>
          <p:cNvSpPr/>
          <p:nvPr/>
        </p:nvSpPr>
        <p:spPr>
          <a:xfrm>
            <a:off x="4630000" y="4083578"/>
            <a:ext cx="410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900" b="1" dirty="0" err="1">
                <a:solidFill>
                  <a:srgbClr val="1E293B"/>
                </a:solidFill>
              </a:rPr>
              <a:t>XGBoost</a:t>
            </a:r>
            <a:endParaRPr lang="en-US" sz="800" b="1" dirty="0">
              <a:solidFill>
                <a:srgbClr val="0D7377"/>
              </a:solidFill>
            </a:endParaRPr>
          </a:p>
        </p:txBody>
      </p:sp>
      <p:sp>
        <p:nvSpPr>
          <p:cNvPr id="29" name="Det3"/>
          <p:cNvSpPr/>
          <p:nvPr/>
        </p:nvSpPr>
        <p:spPr>
          <a:xfrm>
            <a:off x="4705000" y="4520012"/>
            <a:ext cx="4100000" cy="45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Diagonal trend with slight spread in mid-load (400–800 kW).</a:t>
            </a:r>
          </a:p>
          <a:p>
            <a:pPr marL="0" indent="0" algn="l">
              <a:buNone/>
            </a:pPr>
            <a:r>
              <a:rPr lang="en-US" sz="1000" b="0" dirty="0"/>
              <a:t>• Heavy regularization (subsample=0.55, λ=5) prevents overfit.</a:t>
            </a:r>
          </a:p>
          <a:p>
            <a:pPr marL="0" indent="0" algn="l">
              <a:buNone/>
            </a:pPr>
            <a:r>
              <a:rPr lang="en-US" sz="1000" b="0" dirty="0"/>
              <a:t>• Lowest R² among classical models on this 600-sample dataset.</a:t>
            </a:r>
          </a:p>
        </p:txBody>
      </p:sp>
      <p:sp>
        <p:nvSpPr>
          <p:cNvPr id="5" name="Name2">
            <a:extLst>
              <a:ext uri="{FF2B5EF4-FFF2-40B4-BE49-F238E27FC236}">
                <a16:creationId xmlns:a16="http://schemas.microsoft.com/office/drawing/2014/main" id="{CA2E9970-B634-E298-CED3-F2A91A23498E}"/>
              </a:ext>
            </a:extLst>
          </p:cNvPr>
          <p:cNvSpPr/>
          <p:nvPr/>
        </p:nvSpPr>
        <p:spPr>
          <a:xfrm>
            <a:off x="316926" y="4277478"/>
            <a:ext cx="3971055" cy="1735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800" b="1" dirty="0">
                <a:solidFill>
                  <a:srgbClr val="0D7377"/>
                </a:solidFill>
              </a:rPr>
              <a:t>R²=0.9878 | MAE=39.71 kW | RMSE=48.96 kW | Acc=92.80%</a:t>
            </a:r>
          </a:p>
        </p:txBody>
      </p:sp>
      <p:sp>
        <p:nvSpPr>
          <p:cNvPr id="6" name="Name3">
            <a:extLst>
              <a:ext uri="{FF2B5EF4-FFF2-40B4-BE49-F238E27FC236}">
                <a16:creationId xmlns:a16="http://schemas.microsoft.com/office/drawing/2014/main" id="{63F5397F-419A-85CA-3F03-F5302BD85ECF}"/>
              </a:ext>
            </a:extLst>
          </p:cNvPr>
          <p:cNvSpPr/>
          <p:nvPr/>
        </p:nvSpPr>
        <p:spPr>
          <a:xfrm>
            <a:off x="4636926" y="4235978"/>
            <a:ext cx="410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algn="ctr"/>
            <a:r>
              <a:rPr lang="en-US" sz="800" b="1" dirty="0">
                <a:solidFill>
                  <a:srgbClr val="0D7377"/>
                </a:solidFill>
              </a:rPr>
              <a:t>R²=0.9854 | MAE=41.71 kW | RMSE=53.52 kW | Acc=93.46%</a:t>
            </a:r>
          </a:p>
        </p:txBody>
      </p:sp>
    </p:spTree>
    <p:extLst>
      <p:ext uri="{BB962C8B-B14F-4D97-AF65-F5344CB8AC3E}">
        <p14:creationId xmlns:p14="http://schemas.microsoft.com/office/powerpoint/2010/main" val="21829840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B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itB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6B"/>
                </a:solidFill>
              </a:rPr>
              <a:t>Actual vs. Predicted — Deep Learning Models (5-Fold CV)</a:t>
            </a:r>
          </a:p>
        </p:txBody>
      </p:sp>
      <p:sp>
        <p:nvSpPr>
          <p:cNvPr id="4" name="DivB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CardB0"/>
          <p:cNvSpPr/>
          <p:nvPr/>
        </p:nvSpPr>
        <p:spPr>
          <a:xfrm>
            <a:off x="220000" y="1010000"/>
            <a:ext cx="2820000" cy="3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gB0" descr="scatter_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00" y="1040000"/>
            <a:ext cx="2720000" cy="2550000"/>
          </a:xfrm>
          <a:prstGeom prst="rect">
            <a:avLst/>
          </a:prstGeom>
        </p:spPr>
      </p:pic>
      <p:sp>
        <p:nvSpPr>
          <p:cNvPr id="12" name="NamB0"/>
          <p:cNvSpPr/>
          <p:nvPr/>
        </p:nvSpPr>
        <p:spPr>
          <a:xfrm>
            <a:off x="270000" y="3600000"/>
            <a:ext cx="2720000" cy="23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6B21A8"/>
                </a:solidFill>
              </a:rPr>
              <a:t>ANN  ★  Best Model</a:t>
            </a:r>
          </a:p>
        </p:txBody>
      </p:sp>
      <p:sp>
        <p:nvSpPr>
          <p:cNvPr id="13" name="MetB0"/>
          <p:cNvSpPr/>
          <p:nvPr/>
        </p:nvSpPr>
        <p:spPr>
          <a:xfrm>
            <a:off x="270000" y="3871173"/>
            <a:ext cx="272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7377"/>
                </a:solidFill>
              </a:rPr>
              <a:t>R²=0.9967 | MAE=19.20 kW | RMSE=25.45 kW | Acc=95.28% | F1=0.9234</a:t>
            </a:r>
          </a:p>
        </p:txBody>
      </p:sp>
      <p:sp>
        <p:nvSpPr>
          <p:cNvPr id="14" name="DetB0"/>
          <p:cNvSpPr/>
          <p:nvPr/>
        </p:nvSpPr>
        <p:spPr>
          <a:xfrm>
            <a:off x="270000" y="4132737"/>
            <a:ext cx="2720000" cy="80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Tightest fit across all 7 models.</a:t>
            </a:r>
          </a:p>
          <a:p>
            <a:pPr marL="0" indent="0" algn="l">
              <a:buNone/>
            </a:pPr>
            <a:r>
              <a:rPr lang="en-US" sz="1000" b="0" dirty="0"/>
              <a:t>• Points hug y=x from 0 to 1400 kW.</a:t>
            </a:r>
          </a:p>
          <a:p>
            <a:pPr marL="0" indent="0" algn="l">
              <a:buNone/>
            </a:pPr>
            <a:r>
              <a:rPr lang="en-US" sz="1000" b="0" dirty="0"/>
              <a:t>• BatchNorm + Dropout(0.2) stabilize training.</a:t>
            </a:r>
          </a:p>
          <a:p>
            <a:pPr marL="0" indent="0" algn="l">
              <a:buNone/>
            </a:pPr>
            <a:r>
              <a:rPr lang="en-US" sz="1000" b="0" dirty="0"/>
              <a:t>• Best in all regression &amp; classification metrics.</a:t>
            </a:r>
          </a:p>
        </p:txBody>
      </p:sp>
      <p:sp>
        <p:nvSpPr>
          <p:cNvPr id="15" name="CardB1"/>
          <p:cNvSpPr/>
          <p:nvPr/>
        </p:nvSpPr>
        <p:spPr>
          <a:xfrm>
            <a:off x="3160000" y="1010000"/>
            <a:ext cx="2820000" cy="3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ImgB1" descr="scatter_ls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000" y="1040000"/>
            <a:ext cx="2720000" cy="2550000"/>
          </a:xfrm>
          <a:prstGeom prst="rect">
            <a:avLst/>
          </a:prstGeom>
        </p:spPr>
      </p:pic>
      <p:sp>
        <p:nvSpPr>
          <p:cNvPr id="17" name="NamB1"/>
          <p:cNvSpPr/>
          <p:nvPr/>
        </p:nvSpPr>
        <p:spPr>
          <a:xfrm>
            <a:off x="3210000" y="3600000"/>
            <a:ext cx="2720000" cy="23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E293B"/>
                </a:solidFill>
              </a:rPr>
              <a:t>LSTM</a:t>
            </a:r>
          </a:p>
        </p:txBody>
      </p:sp>
      <p:sp>
        <p:nvSpPr>
          <p:cNvPr id="18" name="MetB1"/>
          <p:cNvSpPr/>
          <p:nvPr/>
        </p:nvSpPr>
        <p:spPr>
          <a:xfrm>
            <a:off x="3210000" y="3871173"/>
            <a:ext cx="272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7377"/>
                </a:solidFill>
              </a:rPr>
              <a:t>R²=0.9365 | MAE=84.20 kW | RMSE=95.92 kW | Acc=91.29% | F1=0.5427</a:t>
            </a:r>
          </a:p>
        </p:txBody>
      </p:sp>
      <p:sp>
        <p:nvSpPr>
          <p:cNvPr id="19" name="DetB1"/>
          <p:cNvSpPr/>
          <p:nvPr/>
        </p:nvSpPr>
        <p:spPr>
          <a:xfrm>
            <a:off x="3210000" y="4132737"/>
            <a:ext cx="2720000" cy="80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Diagonal trend with visible vertical spread.</a:t>
            </a:r>
          </a:p>
          <a:p>
            <a:pPr marL="0" indent="0" algn="l">
              <a:buNone/>
            </a:pPr>
            <a:r>
              <a:rPr lang="en-US" sz="1000" b="0" dirty="0"/>
              <a:t>• Used per-vehicle sequences (W=5, MinMaxScaler).</a:t>
            </a:r>
          </a:p>
          <a:p>
            <a:pPr marL="0" indent="0" algn="l">
              <a:buNone/>
            </a:pPr>
            <a:r>
              <a:rPr lang="en-US" sz="1000" b="0" dirty="0"/>
              <a:t>• Different input vs ANN drives higher error.</a:t>
            </a:r>
          </a:p>
          <a:p>
            <a:pPr marL="0" indent="0" algn="l">
              <a:buNone/>
            </a:pPr>
            <a:r>
              <a:rPr lang="en-US" sz="1000" b="0" dirty="0"/>
              <a:t>• EarlyStopping (patience=5) applied in training.</a:t>
            </a:r>
          </a:p>
        </p:txBody>
      </p:sp>
      <p:sp>
        <p:nvSpPr>
          <p:cNvPr id="20" name="CardB2"/>
          <p:cNvSpPr/>
          <p:nvPr/>
        </p:nvSpPr>
        <p:spPr>
          <a:xfrm>
            <a:off x="6100000" y="1010000"/>
            <a:ext cx="2820000" cy="3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1" name="ImgB2" descr="scatter_gr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000" y="1040000"/>
            <a:ext cx="2720000" cy="2550000"/>
          </a:xfrm>
          <a:prstGeom prst="rect">
            <a:avLst/>
          </a:prstGeom>
        </p:spPr>
      </p:pic>
      <p:sp>
        <p:nvSpPr>
          <p:cNvPr id="22" name="NamB2"/>
          <p:cNvSpPr/>
          <p:nvPr/>
        </p:nvSpPr>
        <p:spPr>
          <a:xfrm>
            <a:off x="6150000" y="3600000"/>
            <a:ext cx="2720000" cy="23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E293B"/>
                </a:solidFill>
              </a:rPr>
              <a:t>GRU</a:t>
            </a:r>
          </a:p>
        </p:txBody>
      </p:sp>
      <p:sp>
        <p:nvSpPr>
          <p:cNvPr id="23" name="MetB2"/>
          <p:cNvSpPr/>
          <p:nvPr/>
        </p:nvSpPr>
        <p:spPr>
          <a:xfrm>
            <a:off x="6150000" y="3871173"/>
            <a:ext cx="2720000" cy="21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7377"/>
                </a:solidFill>
              </a:rPr>
              <a:t>R²=0.9444 | MAE=81.45 kW | RMSE=89.50 kW | Acc=90.76% | F1=0.5723</a:t>
            </a:r>
          </a:p>
        </p:txBody>
      </p:sp>
      <p:sp>
        <p:nvSpPr>
          <p:cNvPr id="24" name="DetB2"/>
          <p:cNvSpPr/>
          <p:nvPr/>
        </p:nvSpPr>
        <p:spPr>
          <a:xfrm>
            <a:off x="6150000" y="4132737"/>
            <a:ext cx="2720000" cy="80000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0" indent="0" algn="l">
              <a:buNone/>
            </a:pPr>
            <a:r>
              <a:rPr lang="en-US" sz="1000" b="0" dirty="0"/>
              <a:t>• Mirrors LSTM; slightly tighter in mid-range.</a:t>
            </a:r>
          </a:p>
          <a:p>
            <a:pPr marL="0" indent="0" algn="l">
              <a:buNone/>
            </a:pPr>
            <a:r>
              <a:rPr lang="en-US" sz="1000" b="0" dirty="0"/>
              <a:t>• Gated architecture gives marginal gain over LSTM.</a:t>
            </a:r>
          </a:p>
          <a:p>
            <a:pPr marL="0" indent="0" algn="l">
              <a:buNone/>
            </a:pPr>
            <a:r>
              <a:rPr lang="en-US" sz="1000" b="0" dirty="0"/>
              <a:t>• Same per-vehicle sequence input (W=5).</a:t>
            </a:r>
          </a:p>
          <a:p>
            <a:pPr marL="0" indent="0" algn="l">
              <a:buNone/>
            </a:pPr>
            <a:r>
              <a:rPr lang="en-US" sz="1000" b="0" dirty="0"/>
              <a:t>• Best recurrent model among the two.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vs. Predicted Load — All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152144"/>
            <a:ext cx="1938528" cy="1389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Linear Regression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65760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R²=0.9946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42032" y="1152144"/>
            <a:ext cx="1938528" cy="1389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542032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Decision Tree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542032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R²=0.9904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72584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18304" y="1152144"/>
            <a:ext cx="1938528" cy="1389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8304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Random Forest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4718304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R²=0.9878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848856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894576" y="1152144"/>
            <a:ext cx="1938528" cy="1389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94576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XGBoost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6894576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R²=0.9854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20040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65760" y="3145536"/>
            <a:ext cx="1938528" cy="13898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65760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ANN ★ Best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365760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R²=0.9967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2496312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542032" y="3145536"/>
            <a:ext cx="1938528" cy="13898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542032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LSTM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2542032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R²=0.9365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4672584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718304" y="3145536"/>
            <a:ext cx="1938528" cy="13898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8304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GRU</a:t>
            </a:r>
            <a:endParaRPr lang="en-US" sz="950" dirty="0"/>
          </a:p>
        </p:txBody>
      </p:sp>
      <p:sp>
        <p:nvSpPr>
          <p:cNvPr id="32" name="Text 23"/>
          <p:cNvSpPr/>
          <p:nvPr/>
        </p:nvSpPr>
        <p:spPr>
          <a:xfrm>
            <a:off x="4718304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R²=0.9444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</a:rPr>
              <a:t>Model Performance Comparison</a:t>
            </a:r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</a:rPr>
              <a:t>Error Metrics: MAE, MSE, RMSE, MAPE  (lower is better)</a:t>
            </a:r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42416"/>
            <a:ext cx="40690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33856"/>
            <a:ext cx="3886200" cy="2560320"/>
          </a:xfrm>
          <a:prstGeom prst="rect">
            <a:avLst/>
          </a:prstGeom>
        </p:spPr>
      </p:pic>
      <p:sp>
        <p:nvSpPr>
          <p:cNvPr id="8" name="Text 8"/>
          <p:cNvSpPr/>
          <p:nvPr/>
        </p:nvSpPr>
        <p:spPr>
          <a:xfrm>
            <a:off x="320040" y="3785616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</a:rPr>
              <a:t>MAE &amp; MSE</a:t>
            </a:r>
          </a:p>
        </p:txBody>
      </p:sp>
      <p:sp>
        <p:nvSpPr>
          <p:cNvPr id="9" name="Shape 5"/>
          <p:cNvSpPr/>
          <p:nvPr/>
        </p:nvSpPr>
        <p:spPr>
          <a:xfrm>
            <a:off x="4754880" y="1042416"/>
            <a:ext cx="40690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46320" y="1133856"/>
            <a:ext cx="3886200" cy="2560320"/>
          </a:xfrm>
          <a:prstGeom prst="rect">
            <a:avLst/>
          </a:prstGeom>
        </p:spPr>
      </p:pic>
      <p:sp>
        <p:nvSpPr>
          <p:cNvPr id="11" name="Text 9"/>
          <p:cNvSpPr/>
          <p:nvPr/>
        </p:nvSpPr>
        <p:spPr>
          <a:xfrm>
            <a:off x="4754880" y="3785616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</a:rPr>
              <a:t>RMSE &amp; MAPE</a:t>
            </a:r>
          </a:p>
        </p:txBody>
      </p:sp>
      <p:sp>
        <p:nvSpPr>
          <p:cNvPr id="12" name="Shape 6"/>
          <p:cNvSpPr/>
          <p:nvPr/>
        </p:nvSpPr>
        <p:spPr>
          <a:xfrm>
            <a:off x="320040" y="4041648"/>
            <a:ext cx="8503920" cy="914400"/>
          </a:xfrm>
          <a:prstGeom prst="rect">
            <a:avLst/>
          </a:prstGeom>
          <a:solidFill>
            <a:srgbClr val="EBF4F5"/>
          </a:solidFill>
          <a:ln w="19050">
            <a:solidFill>
              <a:srgbClr val="0D7377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377"/>
                </a:solidFill>
                <a:latin typeface="Calibri" pitchFamily="34" charset="0"/>
              </a:rPr>
              <a:t>Key Insight: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</a:rPr>
              <a:t>ANN achieves the lowest error across all metrics (MAE=19.2 kW, RMSE=25.5 kW, MAPE=4.72%). Linear Regression ranks 2nd (MAE=25.7 kW), outperforming tree-based ensembles. LSTM and GRU show the highest errors due to their sequential input format.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</a:rPr>
              <a:t>Model Performance Comparison</a:t>
            </a:r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</a:rPr>
              <a:t>Fit &amp; Classification Metrics: R² Score, Accuracy, Weighted F1-Score  (higher is better)</a:t>
            </a:r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42416"/>
            <a:ext cx="40690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11480" y="1133856"/>
            <a:ext cx="3886200" cy="2560320"/>
          </a:xfrm>
          <a:prstGeom prst="rect">
            <a:avLst/>
          </a:prstGeom>
        </p:spPr>
      </p:pic>
      <p:sp>
        <p:nvSpPr>
          <p:cNvPr id="8" name="Text 10"/>
          <p:cNvSpPr/>
          <p:nvPr/>
        </p:nvSpPr>
        <p:spPr>
          <a:xfrm>
            <a:off x="320040" y="3785616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</a:rPr>
              <a:t>R² Score</a:t>
            </a:r>
          </a:p>
        </p:txBody>
      </p:sp>
      <p:sp>
        <p:nvSpPr>
          <p:cNvPr id="9" name="Shape 5"/>
          <p:cNvSpPr/>
          <p:nvPr/>
        </p:nvSpPr>
        <p:spPr>
          <a:xfrm>
            <a:off x="4754880" y="1042416"/>
            <a:ext cx="40690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1133856"/>
            <a:ext cx="3886200" cy="2560320"/>
          </a:xfrm>
          <a:prstGeom prst="rect">
            <a:avLst/>
          </a:prstGeom>
        </p:spPr>
      </p:pic>
      <p:sp>
        <p:nvSpPr>
          <p:cNvPr id="11" name="Text 11"/>
          <p:cNvSpPr/>
          <p:nvPr/>
        </p:nvSpPr>
        <p:spPr>
          <a:xfrm>
            <a:off x="4754880" y="3785616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</a:rPr>
              <a:t>Accuracy &amp; F1-Score</a:t>
            </a:r>
          </a:p>
        </p:txBody>
      </p:sp>
      <p:sp>
        <p:nvSpPr>
          <p:cNvPr id="12" name="Shape 6"/>
          <p:cNvSpPr/>
          <p:nvPr/>
        </p:nvSpPr>
        <p:spPr>
          <a:xfrm>
            <a:off x="320040" y="4041648"/>
            <a:ext cx="8503920" cy="914400"/>
          </a:xfrm>
          <a:prstGeom prst="rect">
            <a:avLst/>
          </a:prstGeom>
          <a:solidFill>
            <a:srgbClr val="EBF4F5"/>
          </a:solidFill>
          <a:ln w="19050">
            <a:solidFill>
              <a:srgbClr val="0D7377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377"/>
                </a:solidFill>
                <a:latin typeface="Calibri" pitchFamily="34" charset="0"/>
              </a:rPr>
              <a:t>Key Insight: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</a:rPr>
              <a:t>ANN leads with R²=0.9967, Accuracy=95.28%, and F1=0.9234 — best across all fit and classification metrics. All models achieve R² above 0.93. LSTM and GRU show notably lower F1-Scores (0.54 / 0.57), indicating weaker load-category discrimination compared to non-sequential models.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 (All Metrics)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MSE, RMSE, MAPE, R², Accuracy, F1-Score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70432"/>
            <a:ext cx="3977640" cy="17190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170432"/>
            <a:ext cx="3977640" cy="17190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00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1480" y="3145536"/>
            <a:ext cx="3977640" cy="171907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634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54880" y="3145536"/>
            <a:ext cx="3977640" cy="17190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20040" y="2913195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3A6B"/>
                </a:solidFill>
              </a:rPr>
              <a:t>MAE &amp; MSE</a:t>
            </a:r>
          </a:p>
        </p:txBody>
      </p:sp>
      <p:sp>
        <p:nvSpPr>
          <p:cNvPr id="15" name="Text 9"/>
          <p:cNvSpPr/>
          <p:nvPr/>
        </p:nvSpPr>
        <p:spPr>
          <a:xfrm>
            <a:off x="4663440" y="2913195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3A6B"/>
                </a:solidFill>
              </a:rPr>
              <a:t>RMSE &amp; MAPE</a:t>
            </a:r>
          </a:p>
        </p:txBody>
      </p:sp>
      <p:sp>
        <p:nvSpPr>
          <p:cNvPr id="16" name="Text 10"/>
          <p:cNvSpPr/>
          <p:nvPr/>
        </p:nvSpPr>
        <p:spPr>
          <a:xfrm>
            <a:off x="320040" y="4898275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3A6B"/>
                </a:solidFill>
              </a:rPr>
              <a:t>R² Score</a:t>
            </a:r>
          </a:p>
        </p:txBody>
      </p:sp>
      <p:sp>
        <p:nvSpPr>
          <p:cNvPr id="17" name="Text 11"/>
          <p:cNvSpPr/>
          <p:nvPr/>
        </p:nvSpPr>
        <p:spPr>
          <a:xfrm>
            <a:off x="4663440" y="4898275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3A6B"/>
                </a:solidFill>
              </a:rPr>
              <a:t>Accuracy &amp; F1-Score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Results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— System Load Prediction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224830"/>
              </p:ext>
            </p:extLst>
          </p:nvPr>
        </p:nvGraphicFramePr>
        <p:xfrm>
          <a:off x="320039" y="1115568"/>
          <a:ext cx="8503921" cy="3803904"/>
        </p:xfrm>
        <a:graphic>
          <a:graphicData uri="http://schemas.openxmlformats.org/drawingml/2006/table">
            <a:tbl>
              <a:tblPr/>
              <a:tblGrid>
                <a:gridCol w="17198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54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54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99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54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54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F1-Wtd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2864.3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8028.4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491947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C3483"/>
                </a:solidFill>
              </a:rPr>
              <a:t>★ ANN achieves best performance across all key metrics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Implications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Outperforms All Models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R²=0.9967, MAE=19.2 kW, Acc=95.28% — best precision for EV load forecasting in this simulated environment.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39776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43000"/>
            <a:ext cx="39776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Relationships Dominate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56048" y="1673352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achieved R²=0.9946, outperforming tree-based ensembles — confirming strong linear structure in the charging load data.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04872"/>
            <a:ext cx="4251960" cy="20116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Models Underperform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showed highest errors (MAE ~82–84 kW), suggesting instantaneous features carry more information than temporal sequences at this scale.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404872"/>
            <a:ext cx="39776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404872"/>
            <a:ext cx="3977640" cy="2011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Predictors Identified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56048" y="2935224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system_charging_vehicles, timestep_sec, and system_total_vehicles dominate load prediction; individual vehicle features contribute minimally.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666744"/>
            <a:ext cx="4251960" cy="201168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Reduces Peaks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976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1,169 charging recommendations distributed load across stations, reducing bottlenecks and improving dataset realism for ML training.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666744"/>
            <a:ext cx="39776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666744"/>
            <a:ext cx="397764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 Digital Twin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5604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SUMO-based synthetic dataset generation is effective for developing countries where real EV charging data is scarce or unavailable.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Recommendations for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115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08760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Simulation-only dataset — real-world stochastic behavior not fully captured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25856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58568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225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electricity tariff &amp; driver behavior not modeled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008376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008376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723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infrastructure (no station failures or capacity changes)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5818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58184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600-second window limits temporal generalization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115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636776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93208" y="15819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93208" y="1837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IoT sensors at actual charging stations in Khulna/Jashore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350008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350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93208" y="2295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Deep Learning (CNN-LSTM)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2551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spatial + multi-scale temporal dependencies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93208" y="3008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93208" y="3264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station assignment &amp; autonomous load balancing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776472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93208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Integration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93208" y="3977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solar-powered stations with energy storage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4489704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93208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Simulation Environment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93208" y="4690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full-city scale with diverse vehicle types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0" y="77724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9146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96926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SUMO-based EV simulation modeled Bangladesh's urban mobility (Easy Bikes, E-Rickshaws, E-Vans) with realistic charging infrastructure.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13254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91056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across 25 features generated — ready for ML-based system-level load prediction.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35046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1284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latin typeface="Calibri" pitchFamily="34" charset="0"/>
                <a:ea typeface="Calibri" pitchFamily="34" charset="-122"/>
                <a:cs typeface="Calibri" pitchFamily="34" charset="-120"/>
              </a:rPr>
              <a:t>ANN achieved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precision: R²=0.9967, MAE=19.2 kW, Accuracy=95.28%, F1=0.9234.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56838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34640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also excelled (R²=0.9946), confirming linear structure in EV charging load demand.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578630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456432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serves as an effective digital twin for generating EV datasets in data-scarce developing regions.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20042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07822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"Monitor–Predict–Control" framework provides a practical path to smart grid integration in cities like Khulna.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20982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22311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86832" y="33741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2286000" y="315468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7FA8"/>
                </a:solidFill>
              </a:rPr>
              <a:t>EV Charging Load Demand Prediction Using ML in a SUMO-Based Simulation Environment</a:t>
            </a:r>
            <a:endParaRPr lang="en-US" sz="950" dirty="0"/>
          </a:p>
        </p:txBody>
      </p:sp>
      <p:pic>
        <p:nvPicPr>
          <p:cNvPr id="17" name="object 4">
            <a:extLst>
              <a:ext uri="{FF2B5EF4-FFF2-40B4-BE49-F238E27FC236}">
                <a16:creationId xmlns:a16="http://schemas.microsoft.com/office/drawing/2014/main" id="{21A19648-DB8F-F3BA-95F6-E96997741EB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7198" y="781295"/>
            <a:ext cx="1173232" cy="1193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2911</Words>
  <Application>Microsoft Office PowerPoint</Application>
  <PresentationFormat>On-screen Show (16:9)</PresentationFormat>
  <Paragraphs>615</Paragraphs>
  <Slides>27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Times New Roman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Charging Load Prediction – Thesis Defense</dc:title>
  <dc:subject>PptxGenJS Presentation</dc:subject>
  <dc:creator>PptxGenJS</dc:creator>
  <cp:lastModifiedBy>Rakesh Biswas</cp:lastModifiedBy>
  <cp:revision>54</cp:revision>
  <dcterms:created xsi:type="dcterms:W3CDTF">2026-04-24T04:43:45Z</dcterms:created>
  <dcterms:modified xsi:type="dcterms:W3CDTF">2026-04-26T09:54:25Z</dcterms:modified>
</cp:coreProperties>
</file>