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73" r:id="rId2"/>
    <p:sldId id="257" r:id="rId3"/>
    <p:sldId id="258" r:id="rId4"/>
    <p:sldId id="259" r:id="rId5"/>
    <p:sldId id="274" r:id="rId6"/>
    <p:sldId id="276" r:id="rId7"/>
    <p:sldId id="260" r:id="rId8"/>
    <p:sldId id="277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3A6B"/>
    <a:srgbClr val="0D73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3A6B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B3A6B"/>
                </a:solidFill>
                <a:latin typeface="Arial"/>
              </a:rPr>
              <a:t>Fleet Composition (100 Variants Total)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Vehicles</c:v>
                </c:pt>
              </c:strCache>
            </c:strRef>
          </c:tx>
          <c:spPr>
            <a:solidFill>
              <a:srgbClr val="0D737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0E3-4998-AF55-150A25AF2C4A}"/>
              </c:ext>
            </c:extLst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E3-4998-AF55-150A25AF2C4A}"/>
              </c:ext>
            </c:extLst>
          </c:dPt>
          <c:dPt>
            <c:idx val="2"/>
            <c:invertIfNegative val="0"/>
            <c:bubble3D val="0"/>
            <c:spPr>
              <a:solidFill>
                <a:srgbClr val="7BA7B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E3-4998-AF55-150A25AF2C4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Easy Bike</c:v>
                </c:pt>
                <c:pt idx="1">
                  <c:v>E-Rickshaw</c:v>
                </c:pt>
                <c:pt idx="2">
                  <c:v>E-Van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33</c:v>
                </c:pt>
                <c:pt idx="2">
                  <c:v>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0E3-4998-AF55-150A25AF2C4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075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83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6509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9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806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4004" y="2109220"/>
            <a:ext cx="832104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0" y="2897266"/>
            <a:ext cx="9144000" cy="2246234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147436" y="4700016"/>
            <a:ext cx="997528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April 2026</a:t>
            </a:r>
            <a:endParaRPr lang="en-US" sz="1100" dirty="0">
              <a:solidFill>
                <a:schemeClr val="bg1"/>
              </a:solidFill>
            </a:endParaRPr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7D0D5F5B-19B9-7784-4289-8D5614ED30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496" y="347472"/>
            <a:ext cx="1173232" cy="1193809"/>
          </a:xfrm>
          <a:prstGeom prst="rect">
            <a:avLst/>
          </a:prstGeom>
        </p:spPr>
      </p:pic>
      <p:sp>
        <p:nvSpPr>
          <p:cNvPr id="8" name="object 5" descr="$PPTXTitle">
            <a:extLst>
              <a:ext uri="{FF2B5EF4-FFF2-40B4-BE49-F238E27FC236}">
                <a16:creationId xmlns:a16="http://schemas.microsoft.com/office/drawing/2014/main" id="{F40F0614-575B-72C8-0718-7BBFD75D94BF}"/>
              </a:ext>
            </a:extLst>
          </p:cNvPr>
          <p:cNvSpPr txBox="1">
            <a:spLocks/>
          </p:cNvSpPr>
          <p:nvPr/>
        </p:nvSpPr>
        <p:spPr>
          <a:xfrm>
            <a:off x="1677826" y="425196"/>
            <a:ext cx="9335110" cy="9094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 err="1"/>
              <a:t>Jashore</a:t>
            </a:r>
            <a:r>
              <a:rPr lang="en-US" sz="2400" spc="-50" dirty="0"/>
              <a:t> </a:t>
            </a:r>
            <a:r>
              <a:rPr lang="en-US" sz="2400" dirty="0"/>
              <a:t>University</a:t>
            </a:r>
            <a:r>
              <a:rPr lang="en-US" sz="2400" spc="-65" dirty="0"/>
              <a:t> </a:t>
            </a:r>
            <a:r>
              <a:rPr lang="en-US" sz="2400" dirty="0"/>
              <a:t>of</a:t>
            </a:r>
            <a:r>
              <a:rPr lang="en-US" sz="2400" spc="-45" dirty="0"/>
              <a:t> </a:t>
            </a:r>
            <a:r>
              <a:rPr lang="en-US" sz="2400" dirty="0"/>
              <a:t>Science</a:t>
            </a:r>
            <a:r>
              <a:rPr lang="en-US" sz="2400" spc="-60" dirty="0"/>
              <a:t> </a:t>
            </a:r>
            <a:r>
              <a:rPr lang="en-US" sz="2400" dirty="0"/>
              <a:t>and</a:t>
            </a:r>
            <a:r>
              <a:rPr lang="en-US" sz="2400" spc="-45" dirty="0"/>
              <a:t> </a:t>
            </a:r>
            <a:r>
              <a:rPr lang="en-US" sz="2400" spc="-10" dirty="0"/>
              <a:t>Technology </a:t>
            </a:r>
          </a:p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sz="2400" dirty="0"/>
              <a:t>Department</a:t>
            </a:r>
            <a:r>
              <a:rPr lang="en-US" sz="2400" spc="-40" dirty="0"/>
              <a:t> </a:t>
            </a:r>
            <a:r>
              <a:rPr lang="en-US" sz="2400" dirty="0"/>
              <a:t>of</a:t>
            </a:r>
            <a:r>
              <a:rPr lang="en-US" sz="2400" spc="-30" dirty="0"/>
              <a:t> </a:t>
            </a:r>
            <a:r>
              <a:rPr lang="en-US" sz="2400" dirty="0"/>
              <a:t>Computer</a:t>
            </a:r>
            <a:r>
              <a:rPr lang="en-US" sz="2400" spc="-55" dirty="0"/>
              <a:t> </a:t>
            </a:r>
            <a:r>
              <a:rPr lang="en-US" sz="2400" dirty="0"/>
              <a:t>Science</a:t>
            </a:r>
            <a:r>
              <a:rPr lang="en-US" sz="2400" spc="-30" dirty="0"/>
              <a:t> </a:t>
            </a:r>
            <a:r>
              <a:rPr lang="en-US" sz="2400" dirty="0"/>
              <a:t>and</a:t>
            </a:r>
            <a:r>
              <a:rPr lang="en-US" sz="2400" spc="-40" dirty="0"/>
              <a:t> </a:t>
            </a:r>
            <a:r>
              <a:rPr lang="en-US" sz="2400" spc="-10" dirty="0"/>
              <a:t>Engineering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3137A86A-ED96-4BFE-5BA3-506413EB0514}"/>
              </a:ext>
            </a:extLst>
          </p:cNvPr>
          <p:cNvSpPr/>
          <p:nvPr/>
        </p:nvSpPr>
        <p:spPr>
          <a:xfrm>
            <a:off x="660865" y="1507379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EV Charging Load Demand Prediction</a:t>
            </a:r>
            <a:endParaRPr lang="en-US" sz="28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EDC0CC80-426C-BD80-3C6A-003DCC11E890}"/>
              </a:ext>
            </a:extLst>
          </p:cNvPr>
          <p:cNvSpPr/>
          <p:nvPr/>
        </p:nvSpPr>
        <p:spPr>
          <a:xfrm>
            <a:off x="660865" y="2129171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in a SUMO-Based Simulation Environment</a:t>
            </a:r>
            <a:endParaRPr lang="en-US" dirty="0"/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208A7BD8-44B7-CF06-5619-3AFF5C0C8934}"/>
              </a:ext>
            </a:extLst>
          </p:cNvPr>
          <p:cNvSpPr txBox="1"/>
          <p:nvPr/>
        </p:nvSpPr>
        <p:spPr>
          <a:xfrm>
            <a:off x="2538732" y="3024872"/>
            <a:ext cx="2282653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Supervised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 err="1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Monishanker</a:t>
            </a: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 Halder 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Assistant Professor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endParaRPr lang="en-US" sz="2000" dirty="0">
              <a:solidFill>
                <a:schemeClr val="bg1"/>
              </a:solidFill>
              <a:latin typeface="Times New Roman" panose="02020603050405020304" pitchFamily="18" charset="0"/>
              <a:ea typeface="Roboto"/>
              <a:cs typeface="Times New Roman" panose="02020603050405020304" pitchFamily="18" charset="0"/>
              <a:sym typeface="Roboto"/>
            </a:endParaRP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AF9EDC5A-AD61-A3D6-3997-10617FF055AB}"/>
              </a:ext>
            </a:extLst>
          </p:cNvPr>
          <p:cNvSpPr txBox="1"/>
          <p:nvPr/>
        </p:nvSpPr>
        <p:spPr>
          <a:xfrm>
            <a:off x="5380556" y="2978755"/>
            <a:ext cx="2509284" cy="1887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ea typeface="Roboto Bold"/>
                <a:cs typeface="Times New Roman" panose="02020603050405020304" pitchFamily="18" charset="0"/>
                <a:sym typeface="Roboto Bold"/>
              </a:rPr>
              <a:t>Presented By: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Rakesh Biswas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ID: 200112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ea typeface="Roboto"/>
                <a:cs typeface="Times New Roman" panose="02020603050405020304" pitchFamily="18" charset="0"/>
                <a:sym typeface="Roboto"/>
              </a:rPr>
              <a:t>Session: 2020-21</a:t>
            </a:r>
          </a:p>
        </p:txBody>
      </p:sp>
    </p:spTree>
    <p:extLst>
      <p:ext uri="{BB962C8B-B14F-4D97-AF65-F5344CB8AC3E}">
        <p14:creationId xmlns:p14="http://schemas.microsoft.com/office/powerpoint/2010/main" val="412740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8696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context, EV growth, Bangladesh perspective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696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696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gap, goals, and research questions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2980944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8696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696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in load modeling, ML forecasting, SUMO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91363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913632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4078224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" y="3986784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Simulation Setup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6968" y="4334256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SUMO environment, road network, charging stations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00600" y="1115568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00600" y="1115568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8888" y="1280160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67528" y="1188720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Feature Analysis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67528" y="1536192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Generated dataset, correlation, feature importance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00600" y="2048256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00600" y="2048256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18888" y="2212848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67528" y="2121408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ML Models &amp; Results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67528" y="24688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Seven models evaluated, comparative analysis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00600" y="2980944"/>
            <a:ext cx="4023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800600" y="2980944"/>
            <a:ext cx="502920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18888" y="3145536"/>
            <a:ext cx="475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367528" y="3054096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&amp; Conclusion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67528" y="3401568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findings, limitations, future work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Background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Why EV charging load prediction matters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EV Growth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996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Over 26 million EVs worldwide in 2022 (IEA). Rapid adoption reshapes power grids.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48256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048256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Context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Electric three-wheelers (Easy Bikes, E-Rickshaws, E-Vans) dominate urban mobility in cities like Khulna and Jashore.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980944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80944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0540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Pressure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Uncoordinated charging causes voltage violations, transformer overloads, and peak-hour congestion on already stressed distribution networks.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913632"/>
            <a:ext cx="5120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913632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9867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Need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Accurate spatiotemporal load prediction is essential for smart grid planning, station placement, and demand response.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115568"/>
            <a:ext cx="3246120" cy="380390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23560" y="1161288"/>
            <a:ext cx="3154680" cy="352044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577840" y="46634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Khulna City Road Network (OSM)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8503920" cy="10515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Rapidly growing EV adoption, especially electric three-wheelers in Bangladesh, creates highly dynamic and nonlinear charging load patterns. Existing approaches lack comprehensive simulation-based datasets and multi-model benchmarks tailored to developing-country urban environments.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004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implement a SUMO-based EV simulation with realistic charging stations, queue management and smart rerouting logic.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4930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rule-based smart charging system based on proximity, slot availability and SOC priority.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4334256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43342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242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with </a:t>
            </a:r>
            <a:r>
              <a:rPr lang="en-US" sz="14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TraCI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3464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57800" y="2676525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comprehensive ML-ready dataset capturing per-vehicle and system-level features across a 600 s simulation run.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3584448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58444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3407283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Analyze model performance using MAE, RMSE, R², MAPE, Accuracy, and Weighted F1-Score.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CB0784F-2D38-ACF8-B4E7-B22405C5A34D}"/>
              </a:ext>
            </a:extLst>
          </p:cNvPr>
          <p:cNvSpPr/>
          <p:nvPr/>
        </p:nvSpPr>
        <p:spPr>
          <a:xfrm>
            <a:off x="4847013" y="4341182"/>
            <a:ext cx="329184" cy="32918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C1B52A45-BF20-1753-6EAE-CCA82E08E771}"/>
              </a:ext>
            </a:extLst>
          </p:cNvPr>
          <p:cNvSpPr/>
          <p:nvPr/>
        </p:nvSpPr>
        <p:spPr>
          <a:xfrm>
            <a:off x="4865301" y="434118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BD888A75-0374-1924-8A01-9EC16F0B3B05}"/>
              </a:ext>
            </a:extLst>
          </p:cNvPr>
          <p:cNvSpPr/>
          <p:nvPr/>
        </p:nvSpPr>
        <p:spPr>
          <a:xfrm>
            <a:off x="5258493" y="4240217"/>
            <a:ext cx="3646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Train &amp; evaluate 7 ML / DL models (LR, DT, RF, XGBoost, ANN, LSTM, GRU) for predicting system-level EV charging load.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891183"/>
              </p:ext>
            </p:extLst>
          </p:nvPr>
        </p:nvGraphicFramePr>
        <p:xfrm>
          <a:off x="382386" y="1235270"/>
          <a:ext cx="8503920" cy="371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Vulfovich</a:t>
                      </a:r>
                      <a:r>
                        <a:rPr lang="en-US" sz="1100" dirty="0"/>
                        <a:t> et al. (2021)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Simulation Modelling Practice and Theory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4.719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Modified First Harmonic Approximation (MFHA) modeling</a:t>
                      </a:r>
                    </a:p>
                    <a:p>
                      <a:r>
                        <a:rPr lang="en-US" sz="1100" dirty="0"/>
                        <a:t>- SN-compensated inductive power transfer links</a:t>
                      </a:r>
                    </a:p>
                    <a:p>
                      <a:r>
                        <a:rPr lang="en-US" sz="1100" dirty="0"/>
                        <a:t>- Load-independent-voltage-output frequency systems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Advanced modeling of power transfer links</a:t>
                      </a:r>
                    </a:p>
                    <a:p>
                      <a:r>
                        <a:rPr lang="en-US" sz="1100" dirty="0"/>
                        <a:t>- Load-independent voltage output techniques</a:t>
                      </a:r>
                    </a:p>
                    <a:p>
                      <a:r>
                        <a:rPr lang="en-US" sz="1100" dirty="0"/>
                        <a:t>- Simulation frameworks for inductive charging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Focused on component-level analysis rather than system-level</a:t>
                      </a:r>
                    </a:p>
                    <a:p>
                      <a:r>
                        <a:rPr lang="en-US" sz="1100" dirty="0"/>
                        <a:t>- Limited scalability for grid integration</a:t>
                      </a:r>
                    </a:p>
                    <a:p>
                      <a:r>
                        <a:rPr lang="en-US" sz="1100" dirty="0"/>
                        <a:t>- Insufficient consideration of multiple charging scenarios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Schreiber &amp; </a:t>
                      </a:r>
                      <a:r>
                        <a:rPr lang="en-US" sz="1100" dirty="0" err="1"/>
                        <a:t>Ulbig</a:t>
                      </a:r>
                      <a:r>
                        <a:rPr lang="en-US" sz="1100" dirty="0"/>
                        <a:t>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7.762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Model selection, adaptation, and combination</a:t>
                      </a:r>
                    </a:p>
                    <a:p>
                      <a:r>
                        <a:rPr lang="en-US" sz="1100" dirty="0"/>
                        <a:t>- Transfer learning for renewable forecasts</a:t>
                      </a:r>
                    </a:p>
                    <a:p>
                      <a:r>
                        <a:rPr lang="en-US" sz="1100" dirty="0"/>
                        <a:t>- Wind and PV power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Transfer learning techniques for power systems</a:t>
                      </a:r>
                    </a:p>
                    <a:p>
                      <a:r>
                        <a:rPr lang="en-US" sz="1100" dirty="0"/>
                        <a:t>- Model adaptation methodologies</a:t>
                      </a:r>
                    </a:p>
                    <a:p>
                      <a:r>
                        <a:rPr lang="en-US" sz="1100" dirty="0"/>
                        <a:t>- Renewable energy integration framework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Focus on generation rather than load prediction</a:t>
                      </a:r>
                    </a:p>
                    <a:p>
                      <a:r>
                        <a:rPr lang="en-US" sz="1100" dirty="0"/>
                        <a:t>- Limited application to BPV charging load profiles</a:t>
                      </a:r>
                    </a:p>
                    <a:p>
                      <a:r>
                        <a:rPr lang="en-US" sz="1100" dirty="0"/>
                        <a:t>- Insufficient integration of charging behavior patterns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53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1604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A54E2130-AC06-6F22-F936-21C22324D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661443"/>
              </p:ext>
            </p:extLst>
          </p:nvPr>
        </p:nvGraphicFramePr>
        <p:xfrm>
          <a:off x="382386" y="1235270"/>
          <a:ext cx="8503920" cy="37925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273">
                  <a:extLst>
                    <a:ext uri="{9D8B030D-6E8A-4147-A177-3AD203B41FA5}">
                      <a16:colId xmlns:a16="http://schemas.microsoft.com/office/drawing/2014/main" val="16707812"/>
                    </a:ext>
                  </a:extLst>
                </a:gridCol>
                <a:gridCol w="1457468">
                  <a:extLst>
                    <a:ext uri="{9D8B030D-6E8A-4147-A177-3AD203B41FA5}">
                      <a16:colId xmlns:a16="http://schemas.microsoft.com/office/drawing/2014/main" val="1035030889"/>
                    </a:ext>
                  </a:extLst>
                </a:gridCol>
                <a:gridCol w="2353611">
                  <a:extLst>
                    <a:ext uri="{9D8B030D-6E8A-4147-A177-3AD203B41FA5}">
                      <a16:colId xmlns:a16="http://schemas.microsoft.com/office/drawing/2014/main" val="3836108516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3590159973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1015992786"/>
                    </a:ext>
                  </a:extLst>
                </a:gridCol>
              </a:tblGrid>
              <a:tr h="677635">
                <a:tc>
                  <a:txBody>
                    <a:bodyPr/>
                    <a:lstStyle/>
                    <a:p>
                      <a:pPr algn="ctr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Reference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Journal Metrics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79"/>
                        </a:lnSpc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Existing Systems / Methods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Key Contributions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07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 Bold"/>
                          <a:ea typeface="Times New Roman Bold"/>
                          <a:cs typeface="Times New Roman Bold"/>
                          <a:sym typeface="Times New Roman Bold"/>
                        </a:rPr>
                        <a:t>Research Gaps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marL="95250" marR="9525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253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err="1"/>
                        <a:t>Klausmann</a:t>
                      </a:r>
                      <a:r>
                        <a:rPr lang="en-US" sz="1100" dirty="0"/>
                        <a:t> et al. (2023)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Energy and AI</a:t>
                      </a:r>
                    </a:p>
                    <a:p>
                      <a:r>
                        <a:rPr lang="en-US" sz="1100" dirty="0"/>
                        <a:t>Quartile:Q1</a:t>
                      </a:r>
                    </a:p>
                    <a:p>
                      <a:r>
                        <a:rPr lang="en-US" sz="1100" dirty="0"/>
                        <a:t>Impact Factor: 3.252 (2022)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Ensemble deep learning for hour-ahead load forecasting</a:t>
                      </a:r>
                    </a:p>
                    <a:p>
                      <a:r>
                        <a:rPr lang="en-US" sz="1100" dirty="0"/>
                        <a:t>- Feature selection approach</a:t>
                      </a:r>
                    </a:p>
                    <a:p>
                      <a:r>
                        <a:rPr lang="en-US" sz="1100" dirty="0"/>
                        <a:t>- Comparative analysis with state-of-the-art methods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Novel ensemble deep learning architecture&lt;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Effective feature selection methodology&lt;</a:t>
                      </a:r>
                      <a:r>
                        <a:rPr lang="en-US" sz="1100" dirty="0" err="1"/>
                        <a:t>br</a:t>
                      </a:r>
                      <a:r>
                        <a:rPr lang="en-US" sz="1100" dirty="0"/>
                        <a:t>&gt;- Comparative benchmarking of forecasting models</a:t>
                      </a:r>
                    </a:p>
                    <a:p>
                      <a:r>
                        <a:rPr lang="en-US" sz="1100" dirty="0"/>
                        <a:t>etc. 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Not specifically focused on BPV charging loads</a:t>
                      </a:r>
                    </a:p>
                    <a:p>
                      <a:r>
                        <a:rPr lang="en-US" sz="1100" dirty="0"/>
                        <a:t>- Limited temporal resolution (hour-ahead only)</a:t>
                      </a:r>
                    </a:p>
                    <a:p>
                      <a:r>
                        <a:rPr lang="en-US" sz="1100" dirty="0"/>
                        <a:t>- Lack of spatial distribution consideration in grid impact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200913"/>
                  </a:ext>
                </a:extLst>
              </a:tr>
              <a:tr h="1514713">
                <a:tc>
                  <a:txBody>
                    <a:bodyPr/>
                    <a:lstStyle/>
                    <a:p>
                      <a:r>
                        <a:rPr lang="en-US" sz="1100" dirty="0"/>
                        <a:t>Rath et al. (2024)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Journal: Electric Power Systems Research Quartile:Q1</a:t>
                      </a:r>
                    </a:p>
                    <a:p>
                      <a:r>
                        <a:rPr lang="en-US" sz="1100" dirty="0"/>
                        <a:t>Impact Factor: 4.630 (2022)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Reduced complexity model predictive direct power control</a:t>
                      </a:r>
                    </a:p>
                    <a:p>
                      <a:r>
                        <a:rPr lang="en-US" sz="1100" dirty="0"/>
                        <a:t>- Systems for unbalanced grid conditions</a:t>
                      </a:r>
                    </a:p>
                    <a:p>
                      <a:r>
                        <a:rPr lang="en-US" sz="1100" dirty="0"/>
                        <a:t>- Grid stabilization techniques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Grid stabilization under unbalanced conditions</a:t>
                      </a:r>
                    </a:p>
                    <a:p>
                      <a:r>
                        <a:rPr lang="en-US" sz="1100" dirty="0"/>
                        <a:t>- Reduced complexity control algorithms</a:t>
                      </a:r>
                    </a:p>
                    <a:p>
                      <a:r>
                        <a:rPr lang="en-US" sz="1100" dirty="0"/>
                        <a:t>- Direct power control methodologies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- Limited focus on demand-side prediction</a:t>
                      </a:r>
                    </a:p>
                    <a:p>
                      <a:r>
                        <a:rPr lang="en-US" sz="1100" dirty="0"/>
                        <a:t>- Insufficient consideration of BPV charging patterns</a:t>
                      </a:r>
                    </a:p>
                    <a:p>
                      <a:r>
                        <a:rPr lang="en-US" sz="1100" dirty="0"/>
                        <a:t>- Lack of machine learning integration for prediction</a:t>
                      </a:r>
                    </a:p>
                    <a:p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71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010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Research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"Monitor – Predict – Control"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389120" cy="38953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206240" cy="37536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1152144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1152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166360" y="13898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specs, charging patterns, road layout of Khulna &amp; Jashore cities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92040" y="1719072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66360" y="1719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66360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v1.25 + TraCI, Python 3.10, Windows 10 workstation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92040" y="2286000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66360" y="22860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Road Network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66360" y="25237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nodes, 11 bidirectional edges, 8,654 m, based on Khulna arterials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92040" y="2852928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166360" y="281039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Placement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166360" y="3101305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stations (25–50 kW), 62 charging + 49 waiting slots across 5 edges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892040" y="3419856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45A8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166360" y="339859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Configuration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166360" y="367886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EVs: 34 Easy Bikes, + 33 E-Rickshaws + 33 E-Vans; heterogeneous fleet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92040" y="3986784"/>
            <a:ext cx="201168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86A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66360" y="398678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Logic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166360" y="42245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SOC-based routing (30% threshold → 70% target), FIFO queue promotion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892040" y="4553712"/>
            <a:ext cx="201168" cy="438912"/>
          </a:xfrm>
          <a:prstGeom prst="rect">
            <a:avLst/>
          </a:prstGeom>
          <a:solidFill>
            <a:srgbClr val="0D7377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66360" y="45537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Execution via TraCI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166360" y="47914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 run, 1-step monitoring; 34,020 records generated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8,654 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Road Network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75688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75688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21408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31336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31336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877056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86984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86984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32704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632704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42632" y="1115568"/>
            <a:ext cx="14813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42632" y="1115568"/>
            <a:ext cx="1453896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88352" y="13716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388352" y="192024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Generated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450592"/>
            <a:ext cx="393192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523744"/>
            <a:ext cx="3749040" cy="23042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20040" y="48463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SUMO netedit – Custom Microscopic Road Network</a:t>
            </a:r>
            <a:endParaRPr lang="en-US" sz="950" dirty="0"/>
          </a:p>
        </p:txBody>
      </p:sp>
      <p:sp>
        <p:nvSpPr>
          <p:cNvPr id="31" name="Shape 24">
            <a:extLst>
              <a:ext uri="{FF2B5EF4-FFF2-40B4-BE49-F238E27FC236}">
                <a16:creationId xmlns:a16="http://schemas.microsoft.com/office/drawing/2014/main" id="{2C00A607-F83C-407E-74A2-CAFCC7C9B99E}"/>
              </a:ext>
            </a:extLst>
          </p:cNvPr>
          <p:cNvSpPr/>
          <p:nvPr/>
        </p:nvSpPr>
        <p:spPr>
          <a:xfrm>
            <a:off x="4835929" y="2456272"/>
            <a:ext cx="393192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5E946DA-1E01-2CCB-50C9-DAD10F4AF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760791"/>
              </p:ext>
            </p:extLst>
          </p:nvPr>
        </p:nvGraphicFramePr>
        <p:xfrm>
          <a:off x="4998028" y="2615185"/>
          <a:ext cx="3551613" cy="2252050"/>
        </p:xfrm>
        <a:graphic>
          <a:graphicData uri="http://schemas.openxmlformats.org/drawingml/2006/table">
            <a:tbl>
              <a:tblPr/>
              <a:tblGrid>
                <a:gridCol w="1183871">
                  <a:extLst>
                    <a:ext uri="{9D8B030D-6E8A-4147-A177-3AD203B41FA5}">
                      <a16:colId xmlns:a16="http://schemas.microsoft.com/office/drawing/2014/main" val="2678028350"/>
                    </a:ext>
                  </a:extLst>
                </a:gridCol>
                <a:gridCol w="1183871">
                  <a:extLst>
                    <a:ext uri="{9D8B030D-6E8A-4147-A177-3AD203B41FA5}">
                      <a16:colId xmlns:a16="http://schemas.microsoft.com/office/drawing/2014/main" val="366697314"/>
                    </a:ext>
                  </a:extLst>
                </a:gridCol>
                <a:gridCol w="1183871">
                  <a:extLst>
                    <a:ext uri="{9D8B030D-6E8A-4147-A177-3AD203B41FA5}">
                      <a16:colId xmlns:a16="http://schemas.microsoft.com/office/drawing/2014/main" val="2338976362"/>
                    </a:ext>
                  </a:extLst>
                </a:gridCol>
              </a:tblGrid>
              <a:tr h="184937">
                <a:tc>
                  <a:txBody>
                    <a:bodyPr/>
                    <a:lstStyle/>
                    <a:p>
                      <a:r>
                        <a:rPr lang="en-US" sz="800" b="1"/>
                        <a:t>Direction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/>
                        <a:t>Route ID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/>
                        <a:t>Edge Sequence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848731"/>
                  </a:ext>
                </a:extLst>
              </a:tr>
              <a:tr h="184937">
                <a:tc>
                  <a:txBody>
                    <a:bodyPr/>
                    <a:lstStyle/>
                    <a:p>
                      <a:r>
                        <a:rPr lang="en-US" sz="70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route1_forward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E0 → E1 → E2 → E3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658536"/>
                  </a:ext>
                </a:extLst>
              </a:tr>
              <a:tr h="184937">
                <a:tc>
                  <a:txBody>
                    <a:bodyPr/>
                    <a:lstStyle/>
                    <a:p>
                      <a:r>
                        <a:rPr lang="en-US" sz="7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route2_forward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E0 → E1 → E9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917509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700" dirty="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route3_forward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E4 → E5 → E6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300909"/>
                  </a:ext>
                </a:extLst>
              </a:tr>
              <a:tr h="184937">
                <a:tc>
                  <a:txBody>
                    <a:bodyPr/>
                    <a:lstStyle/>
                    <a:p>
                      <a:r>
                        <a:rPr lang="en-US" sz="700"/>
                        <a:t>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/>
                        <a:t>route4_forward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E0 → E10 → E7 → E8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957859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7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route1_reverse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/>
                        <a:t>-E3 → -E2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827436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7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route2_reverse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/>
                        <a:t>-E8 → -E9 → -E1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108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7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route3_reverse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-E8 → -E7 → -E6 → -E5 → -E4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8347584"/>
                  </a:ext>
                </a:extLst>
              </a:tr>
              <a:tr h="294620">
                <a:tc>
                  <a:txBody>
                    <a:bodyPr/>
                    <a:lstStyle/>
                    <a:p>
                      <a:r>
                        <a:rPr lang="en-US" sz="700"/>
                        <a:t>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route4_reverse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/>
                        <a:t>-E8 → -E7 → -E10 → -E0</a:t>
                      </a:r>
                    </a:p>
                  </a:txBody>
                  <a:tcPr marL="83649" marR="83649" marT="41825" marB="418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6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674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Environment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Khulna road network with traffic signals and charging stations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8,654 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Road Network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75688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75688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121408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31336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831336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77056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877056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Vehicles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86984" y="1115568"/>
            <a:ext cx="19202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86984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32704" y="137160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s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632704" y="19202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Duration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42632" y="1115568"/>
            <a:ext cx="14813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42632" y="1115568"/>
            <a:ext cx="1453896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88352" y="137160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388352" y="1920240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Generated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450592"/>
            <a:ext cx="3931920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523744"/>
            <a:ext cx="3749040" cy="23042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20040" y="48463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SUMO netedit – Custom Microscopic Road Network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434840" y="245059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Station Configuration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2798064"/>
          <a:ext cx="4361688" cy="224028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 Slots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Slots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pa_2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pa_3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pa_6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pa_7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pa_8_rev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-E7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kW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Fleet &amp; Smart Charging Logic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5" name="Chart 0"/>
          <p:cNvGraphicFramePr/>
          <p:nvPr/>
        </p:nvGraphicFramePr>
        <p:xfrm>
          <a:off x="320040" y="1115568"/>
          <a:ext cx="41148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639312"/>
          <a:ext cx="8503920" cy="15544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 Bike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E-Rickshaw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E-Van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(Wh)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 – 7,200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 (kg)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– 354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 – 219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Power (W)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– 1,200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– 1,000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– 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Speed (km/h)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Prop.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617720" y="980485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Decision Logic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17720" y="1373677"/>
            <a:ext cx="1417320" cy="25603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645152" y="13736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&lt; 30%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089904" y="13919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re-routing to nearest station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617720" y="16937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645152" y="16937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089904" y="17120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station has free charging slot → route there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17720" y="201375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645152" y="201375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089904" y="203204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full → check 2nd nearest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233379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45152" y="233379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089904" y="235208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charging slot → route there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617720" y="265383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45152" y="265383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4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6089904" y="267212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nearest has waiting slot → enqueue (FIFO)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17720" y="297387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645152" y="297387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5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6089904" y="29921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full → no reroute; continue current route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617720" y="3293917"/>
            <a:ext cx="1417320" cy="25603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645152" y="3293917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SOC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6089904" y="331220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session ends at 70% SOC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System Load Profile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from a 600-second SUMO simulation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 Records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4832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84832" y="1115568"/>
            <a:ext cx="1764792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0552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130552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8336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72977" y="1115568"/>
            <a:ext cx="192024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1268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548701" y="16945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Time Steps (s)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19558" y="1115568"/>
            <a:ext cx="192024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9167" y="1115568"/>
            <a:ext cx="192024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34105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1,340 kW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109413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Peak Load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7478" y="1115568"/>
            <a:ext cx="176479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57087" y="1115568"/>
            <a:ext cx="1764792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461" y="12884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723.8 kW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98897" y="17124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Mean Load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2221992"/>
            <a:ext cx="8503920" cy="26791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2276024"/>
            <a:ext cx="8321040" cy="255200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20040" y="487375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/>
              <a:t>Figure: System Total EV Charging Load over Simulation Time (1–600 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Correlation &amp; Importance Analysis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4206240" cy="3648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88720"/>
            <a:ext cx="402336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4800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Pearson Correlation Heatmap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1115568"/>
            <a:ext cx="4114800" cy="36393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1188720"/>
            <a:ext cx="3931920" cy="34472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09160" y="48006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Top 15 Feature Importance (XGBoost)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20040" y="4828032"/>
            <a:ext cx="4206240" cy="219456"/>
          </a:xfrm>
          <a:prstGeom prst="rect">
            <a:avLst/>
          </a:prstGeom>
          <a:solidFill>
            <a:srgbClr val="E8F0FE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709160" y="475488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system_charging_vehicles  →  r ≈ 0.996 (strongest driver)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709160" y="486460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timestep_sec, system_total_vehicles  →  top XGBoost features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709160" y="497433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Speed, acceleration, SOC  →  low marginal importance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</a:t>
            </a:r>
            <a:r>
              <a:rPr lang="en-US" sz="13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evaluated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43000"/>
            <a:ext cx="54864" cy="80467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805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Ridge (α=100)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805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25.7 / R²=0.9946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093976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093976"/>
            <a:ext cx="54864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max_depth=3, min_samples=30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33.5 / R²=0.9904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44952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44952"/>
            <a:ext cx="54864" cy="804672"/>
          </a:xfrm>
          <a:prstGeom prst="rect">
            <a:avLst/>
          </a:prstGeom>
          <a:solidFill>
            <a:srgbClr val="7BA7BC"/>
          </a:solidFill>
          <a:ln w="12700">
            <a:solidFill>
              <a:srgbClr val="7BA7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50 trees, max_depth=3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BA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39.7 / R²=0.9878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995928"/>
            <a:ext cx="4251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995928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48056" y="43434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lr=0.05, depth=2, L1+L2 reg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8056" y="454456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41.7 / R²=0.9854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1143000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114300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09560" y="1179576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★ BEST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74336" y="1216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(Best Model)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74336" y="14904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128→64→32, BN+Dropout(0.2)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74336" y="169164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19.2 / R²=0.9967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093976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46320" y="2093976"/>
            <a:ext cx="54864" cy="8046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74336" y="2167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974336" y="244144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74336" y="26426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84.2 / R²=0.9365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044952"/>
            <a:ext cx="39776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46320" y="3044952"/>
            <a:ext cx="54864" cy="804672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31181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974336" y="33924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Config: 64+32 units, W=5 lookback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74336" y="359359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86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81.5 / R²=0.9444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vs. Predicted Load — All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152144"/>
            <a:ext cx="1938528" cy="1389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Linear Regression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65760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R²=0.9946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96312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542032" y="1152144"/>
            <a:ext cx="1938528" cy="1389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542032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Decision Tree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542032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R²=0.9904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672584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18304" y="1152144"/>
            <a:ext cx="1938528" cy="1389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18304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Random Forest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4718304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R²=0.9878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6848856" y="1115568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894576" y="1152144"/>
            <a:ext cx="1938528" cy="1389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894576" y="2560320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XGBoost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6894576" y="2752344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R²=0.9854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320040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65760" y="3145536"/>
            <a:ext cx="1938528" cy="138988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65760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ANN ★ Best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365760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R²=0.9967</a:t>
            </a:r>
            <a:endParaRPr lang="en-US" sz="900" dirty="0"/>
          </a:p>
        </p:txBody>
      </p:sp>
      <p:sp>
        <p:nvSpPr>
          <p:cNvPr id="25" name="Shape 18"/>
          <p:cNvSpPr/>
          <p:nvPr/>
        </p:nvSpPr>
        <p:spPr>
          <a:xfrm>
            <a:off x="2496312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542032" y="3145536"/>
            <a:ext cx="1938528" cy="138988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2542032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LSTM</a:t>
            </a:r>
            <a:endParaRPr lang="en-US" sz="950" dirty="0"/>
          </a:p>
        </p:txBody>
      </p:sp>
      <p:sp>
        <p:nvSpPr>
          <p:cNvPr id="28" name="Text 20"/>
          <p:cNvSpPr/>
          <p:nvPr/>
        </p:nvSpPr>
        <p:spPr>
          <a:xfrm>
            <a:off x="2542032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R²=0.9365</a:t>
            </a:r>
            <a:endParaRPr lang="en-US" sz="900" dirty="0"/>
          </a:p>
        </p:txBody>
      </p:sp>
      <p:sp>
        <p:nvSpPr>
          <p:cNvPr id="29" name="Shape 21"/>
          <p:cNvSpPr/>
          <p:nvPr/>
        </p:nvSpPr>
        <p:spPr>
          <a:xfrm>
            <a:off x="4672584" y="3108960"/>
            <a:ext cx="202996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718304" y="3145536"/>
            <a:ext cx="1938528" cy="13898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718304" y="4553712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</a:rPr>
              <a:t>GRU</a:t>
            </a:r>
            <a:endParaRPr lang="en-US" sz="950" dirty="0"/>
          </a:p>
        </p:txBody>
      </p:sp>
      <p:sp>
        <p:nvSpPr>
          <p:cNvPr id="32" name="Text 23"/>
          <p:cNvSpPr/>
          <p:nvPr/>
        </p:nvSpPr>
        <p:spPr>
          <a:xfrm>
            <a:off x="4718304" y="47457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7377"/>
                </a:solidFill>
              </a:rPr>
              <a:t>R²=0.9444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MAE, MSE, RMSE, MAPE, R², Accuracy, F1-Score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170432"/>
            <a:ext cx="3977640" cy="17190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115568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4880" y="1170432"/>
            <a:ext cx="3977640" cy="17190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200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1480" y="3145536"/>
            <a:ext cx="3977640" cy="171907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663440" y="3090672"/>
            <a:ext cx="41605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54880" y="3145536"/>
            <a:ext cx="3977640" cy="171907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20040" y="294436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MAE &amp; MSE</a:t>
            </a:r>
            <a:endParaRPr lang="en-US" sz="950" dirty="0"/>
          </a:p>
        </p:txBody>
      </p:sp>
      <p:sp>
        <p:nvSpPr>
          <p:cNvPr id="15" name="Text 9"/>
          <p:cNvSpPr/>
          <p:nvPr/>
        </p:nvSpPr>
        <p:spPr>
          <a:xfrm>
            <a:off x="4663440" y="294436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RMSE &amp; MAPE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320040" y="48463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R² Score</a:t>
            </a:r>
            <a:endParaRPr lang="en-US" sz="950" dirty="0"/>
          </a:p>
        </p:txBody>
      </p:sp>
      <p:sp>
        <p:nvSpPr>
          <p:cNvPr id="17" name="Text 11"/>
          <p:cNvSpPr/>
          <p:nvPr/>
        </p:nvSpPr>
        <p:spPr>
          <a:xfrm>
            <a:off x="4663440" y="48463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Accuracy &amp; F1-Score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Results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2004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 — System Load Prediction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15568"/>
          <a:ext cx="8138160" cy="3803904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(kW)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(%)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F1-Wtd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2864.3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647.9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9200.6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8028.4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4919472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C3483"/>
                </a:solidFill>
              </a:rPr>
              <a:t>★ ANN achieves best performance across all key metrics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Implications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4300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4251960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Outperforms All Models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6733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R²=0.9967, MAE=19.2 kW, Acc=95.28% — best precision for EV load forecasting in this simulated environment.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43000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43000"/>
            <a:ext cx="4251960" cy="20116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399032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Relationships Dominate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56048" y="16733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achieved R²=0.9946, outperforming tree-based ensembles — confirming strong linear structure in the charging load data.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404872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04872"/>
            <a:ext cx="4251960" cy="20116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Models Underperform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" y="2935224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LSTM/GRU showed highest errors (MAE ~82–84 kW), suggesting instantaneous features carry more information than temporal sequences at this scale.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2404872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404872"/>
            <a:ext cx="4251960" cy="20116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2660904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Predictors Identified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56048" y="2935224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system_charging_vehicles, timestep_sec, and system_total_vehicles dominate load prediction; individual vehicle features contribute minimally.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666744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666744"/>
            <a:ext cx="4251960" cy="201168"/>
          </a:xfrm>
          <a:prstGeom prst="rect">
            <a:avLst/>
          </a:prstGeom>
          <a:solidFill>
            <a:srgbClr val="186A3E"/>
          </a:solidFill>
          <a:ln w="12700">
            <a:solidFill>
              <a:srgbClr val="186A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Charging Reduces Peaks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976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1,169 charging recommendations distributed load across stations, reducing bottlenecks and improving dataset realism for ML training.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3666744"/>
            <a:ext cx="42519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666744"/>
            <a:ext cx="4251960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922776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 Digital Twin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56048" y="4197096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SUMO-based synthetic dataset generation is effective for developing countries where real EV charging data is scarce or unavailable.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Recommendations for Future 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115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508760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Simulation-only dataset — real-world stochastic behavior not fully captured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25856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258568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2257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electricity tariff &amp; driver behavior not modeled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008376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008376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723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infrastructure (no station failures or capacity changes)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5818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758184"/>
            <a:ext cx="54864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22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600-second window limits temporal generalization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115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636776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93208" y="15819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 Integration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93208" y="18379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IoT sensors at actual charging stations in Khulna/Jashore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350008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350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93208" y="2295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Deep Learning (CNN-LSTM)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2551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spatial + multi-scale temporal dependencies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063240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93208" y="3008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93208" y="3264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station assignment &amp; autonomous load balancing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776472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93208" y="3721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Integration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93208" y="3977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solar-powered stations with energy storage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4489704"/>
            <a:ext cx="274320" cy="27432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93208" y="4434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Simulation Environment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93208" y="4690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full-city scale with diverse vehicle types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286000" y="77724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96926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SUMO-based EV simulation modeled Bangladesh's urban mobility (Easy Bikes, E-Rickshaws, E-Vans) with realistic charging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9344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91056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34,020 records across 25 features generated — ready for ML-based system-level load prediction.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31136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212848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(MLP) achieved the highest precision: R²=0.9967, MAE=19.2 kW, Accuracy=95.28%, F1=0.9234.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52928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834640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also excelled (R²=0.9946), confirming linear structure in EV charging load demand.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456432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SUMO simulation serves as an effective digital twin for generating EV datasets in data-scarce developing regions.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96512"/>
            <a:ext cx="201168" cy="20116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4078224"/>
            <a:ext cx="795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"Monitor–Predict–Control" framework provides a practical path to smart grid integration in cities like Khulna.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BAFD4"/>
                </a:solidFill>
              </a:rPr>
              <a:t>Rakesh Biswas  ·  Department of CSE  ·  JUST  ·  Thesis Defense 27 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22311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86832" y="33741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2286000" y="3154680"/>
            <a:ext cx="45720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0F2447"/>
          </a:solidFill>
          <a:ln w="12700">
            <a:solidFill>
              <a:srgbClr val="0F244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7FA8"/>
                </a:solidFill>
              </a:rPr>
              <a:t>EV Charging Load Demand Prediction Using ML in a SUMO-Based Simulation Environment</a:t>
            </a:r>
            <a:endParaRPr lang="en-US" sz="950" dirty="0"/>
          </a:p>
        </p:txBody>
      </p:sp>
      <p:pic>
        <p:nvPicPr>
          <p:cNvPr id="17" name="object 4">
            <a:extLst>
              <a:ext uri="{FF2B5EF4-FFF2-40B4-BE49-F238E27FC236}">
                <a16:creationId xmlns:a16="http://schemas.microsoft.com/office/drawing/2014/main" id="{21A19648-DB8F-F3BA-95F6-E96997741EB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07198" y="781295"/>
            <a:ext cx="1173232" cy="11938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2058</Words>
  <Application>Microsoft Office PowerPoint</Application>
  <PresentationFormat>On-screen Show (16:9)</PresentationFormat>
  <Paragraphs>464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Times New Roman</vt:lpstr>
      <vt:lpstr>Times New Roman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Charging Load Prediction – Thesis Defense</dc:title>
  <dc:subject>PptxGenJS Presentation</dc:subject>
  <dc:creator>PptxGenJS</dc:creator>
  <cp:lastModifiedBy>Rakesh Biswas</cp:lastModifiedBy>
  <cp:revision>32</cp:revision>
  <dcterms:created xsi:type="dcterms:W3CDTF">2026-04-24T04:43:45Z</dcterms:created>
  <dcterms:modified xsi:type="dcterms:W3CDTF">2026-04-25T15:50:51Z</dcterms:modified>
</cp:coreProperties>
</file>