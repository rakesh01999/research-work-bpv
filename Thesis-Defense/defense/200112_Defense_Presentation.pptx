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73" r:id="rId2"/>
    <p:sldId id="257" r:id="rId3"/>
    <p:sldId id="258" r:id="rId4"/>
    <p:sldId id="259" r:id="rId5"/>
    <p:sldId id="274" r:id="rId6"/>
    <p:sldId id="276" r:id="rId7"/>
    <p:sldId id="260" r:id="rId8"/>
    <p:sldId id="277" r:id="rId9"/>
    <p:sldId id="261" r:id="rId10"/>
    <p:sldId id="262" r:id="rId11"/>
    <p:sldId id="278" r:id="rId12"/>
    <p:sldId id="263" r:id="rId13"/>
    <p:sldId id="279" r:id="rId14"/>
    <p:sldId id="264" r:id="rId15"/>
    <p:sldId id="265" r:id="rId16"/>
    <p:sldId id="281" r:id="rId17"/>
    <p:sldId id="283" r:id="rId18"/>
    <p:sldId id="282" r:id="rId19"/>
    <p:sldId id="266" r:id="rId20"/>
    <p:sldId id="284" r:id="rId21"/>
    <p:sldId id="285" r:id="rId22"/>
    <p:sldId id="267" r:id="rId23"/>
    <p:sldId id="268" r:id="rId24"/>
    <p:sldId id="269" r:id="rId25"/>
    <p:sldId id="270" r:id="rId26"/>
    <p:sldId id="280" r:id="rId27"/>
    <p:sldId id="27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A6B"/>
    <a:srgbClr val="0D73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6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3A6B"/>
                </a:solidFill>
                <a:latin typeface="Arial"/>
              </a:rPr>
              <a:t>Fleet Composition (100 Variants Total)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Vehicles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0E3-4998-AF55-150A25AF2C4A}"/>
              </c:ext>
            </c:extLst>
          </c:dPt>
          <c:dPt>
            <c:idx val="1"/>
            <c:invertIfNegative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E3-4998-AF55-150A25AF2C4A}"/>
              </c:ext>
            </c:extLst>
          </c:dPt>
          <c:dPt>
            <c:idx val="2"/>
            <c:invertIfNegative val="0"/>
            <c:bubble3D val="0"/>
            <c:spPr>
              <a:solidFill>
                <a:srgbClr val="7BA7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0E3-4998-AF55-150A25AF2C4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Easy Bike</c:v>
                </c:pt>
                <c:pt idx="1">
                  <c:v>E-Rickshaw</c:v>
                </c:pt>
                <c:pt idx="2">
                  <c:v>E-Van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33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0E3-4998-AF55-150A25AF2C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075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83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50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19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06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4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94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480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4004" y="2109220"/>
            <a:ext cx="832104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2897266"/>
            <a:ext cx="9144000" cy="2246234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147436" y="4700016"/>
            <a:ext cx="997528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April 2026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7D0D5F5B-19B9-7784-4289-8D5614ED307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496" y="347472"/>
            <a:ext cx="1173232" cy="1193809"/>
          </a:xfrm>
          <a:prstGeom prst="rect">
            <a:avLst/>
          </a:prstGeom>
        </p:spPr>
      </p:pic>
      <p:sp>
        <p:nvSpPr>
          <p:cNvPr id="8" name="object 5" descr="$PPTXTitle">
            <a:extLst>
              <a:ext uri="{FF2B5EF4-FFF2-40B4-BE49-F238E27FC236}">
                <a16:creationId xmlns:a16="http://schemas.microsoft.com/office/drawing/2014/main" id="{F40F0614-575B-72C8-0718-7BBFD75D94BF}"/>
              </a:ext>
            </a:extLst>
          </p:cNvPr>
          <p:cNvSpPr txBox="1">
            <a:spLocks/>
          </p:cNvSpPr>
          <p:nvPr/>
        </p:nvSpPr>
        <p:spPr>
          <a:xfrm>
            <a:off x="1677826" y="425196"/>
            <a:ext cx="9335110" cy="9094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2700" marR="5080">
              <a:lnSpc>
                <a:spcPct val="126299"/>
              </a:lnSpc>
              <a:spcBef>
                <a:spcPts val="95"/>
              </a:spcBef>
            </a:pPr>
            <a:r>
              <a:rPr lang="en-US" sz="2400" dirty="0" err="1"/>
              <a:t>Jashore</a:t>
            </a:r>
            <a:r>
              <a:rPr lang="en-US" sz="2400" spc="-50" dirty="0"/>
              <a:t> </a:t>
            </a:r>
            <a:r>
              <a:rPr lang="en-US" sz="2400" dirty="0"/>
              <a:t>University</a:t>
            </a:r>
            <a:r>
              <a:rPr lang="en-US" sz="2400" spc="-65" dirty="0"/>
              <a:t> </a:t>
            </a:r>
            <a:r>
              <a:rPr lang="en-US" sz="2400" dirty="0"/>
              <a:t>of</a:t>
            </a:r>
            <a:r>
              <a:rPr lang="en-US" sz="2400" spc="-45" dirty="0"/>
              <a:t> </a:t>
            </a:r>
            <a:r>
              <a:rPr lang="en-US" sz="2400" dirty="0"/>
              <a:t>Science</a:t>
            </a:r>
            <a:r>
              <a:rPr lang="en-US" sz="2400" spc="-60" dirty="0"/>
              <a:t> </a:t>
            </a:r>
            <a:r>
              <a:rPr lang="en-US" sz="2400" dirty="0"/>
              <a:t>and</a:t>
            </a:r>
            <a:r>
              <a:rPr lang="en-US" sz="2400" spc="-45" dirty="0"/>
              <a:t> </a:t>
            </a:r>
            <a:r>
              <a:rPr lang="en-US" sz="2400" spc="-10" dirty="0"/>
              <a:t>Technology </a:t>
            </a:r>
          </a:p>
          <a:p>
            <a:pPr marL="12700" marR="5080">
              <a:lnSpc>
                <a:spcPct val="126299"/>
              </a:lnSpc>
              <a:spcBef>
                <a:spcPts val="95"/>
              </a:spcBef>
            </a:pPr>
            <a:r>
              <a:rPr lang="en-US" sz="2400" dirty="0"/>
              <a:t>Department</a:t>
            </a:r>
            <a:r>
              <a:rPr lang="en-US" sz="2400" spc="-40" dirty="0"/>
              <a:t> </a:t>
            </a:r>
            <a:r>
              <a:rPr lang="en-US" sz="2400" dirty="0"/>
              <a:t>of</a:t>
            </a:r>
            <a:r>
              <a:rPr lang="en-US" sz="2400" spc="-30" dirty="0"/>
              <a:t> </a:t>
            </a:r>
            <a:r>
              <a:rPr lang="en-US" sz="2400" dirty="0"/>
              <a:t>Computer</a:t>
            </a:r>
            <a:r>
              <a:rPr lang="en-US" sz="2400" spc="-55" dirty="0"/>
              <a:t> </a:t>
            </a:r>
            <a:r>
              <a:rPr lang="en-US" sz="2400" dirty="0"/>
              <a:t>Science</a:t>
            </a:r>
            <a:r>
              <a:rPr lang="en-US" sz="2400" spc="-30" dirty="0"/>
              <a:t> </a:t>
            </a:r>
            <a:r>
              <a:rPr lang="en-US" sz="2400" dirty="0"/>
              <a:t>and</a:t>
            </a:r>
            <a:r>
              <a:rPr lang="en-US" sz="2400" spc="-40" dirty="0"/>
              <a:t> </a:t>
            </a:r>
            <a:r>
              <a:rPr lang="en-US" sz="2400" spc="-10" dirty="0"/>
              <a:t>Engineering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137A86A-ED96-4BFE-5BA3-506413EB0514}"/>
              </a:ext>
            </a:extLst>
          </p:cNvPr>
          <p:cNvSpPr/>
          <p:nvPr/>
        </p:nvSpPr>
        <p:spPr>
          <a:xfrm>
            <a:off x="660865" y="1507379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Load Demand Prediction</a:t>
            </a:r>
            <a:endParaRPr lang="en-US" sz="28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DC0CC80-426C-BD80-3C6A-003DCC11E890}"/>
              </a:ext>
            </a:extLst>
          </p:cNvPr>
          <p:cNvSpPr/>
          <p:nvPr/>
        </p:nvSpPr>
        <p:spPr>
          <a:xfrm>
            <a:off x="660865" y="2129171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in a SUMO-Based Simulation Environment</a:t>
            </a:r>
            <a:endParaRPr lang="en-US" dirty="0"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208A7BD8-44B7-CF06-5619-3AFF5C0C8934}"/>
              </a:ext>
            </a:extLst>
          </p:cNvPr>
          <p:cNvSpPr txBox="1"/>
          <p:nvPr/>
        </p:nvSpPr>
        <p:spPr>
          <a:xfrm>
            <a:off x="2538732" y="3024872"/>
            <a:ext cx="2282653" cy="1887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Supervised By: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Monishanker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Halder 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Assistant Professor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AF9EDC5A-AD61-A3D6-3997-10617FF055AB}"/>
              </a:ext>
            </a:extLst>
          </p:cNvPr>
          <p:cNvSpPr txBox="1"/>
          <p:nvPr/>
        </p:nvSpPr>
        <p:spPr>
          <a:xfrm>
            <a:off x="5380556" y="2978755"/>
            <a:ext cx="2509284" cy="1887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Presented By: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Rakesh Biswas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ID: 200112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Session: 2020-21</a:t>
            </a:r>
          </a:p>
        </p:txBody>
      </p:sp>
    </p:spTree>
    <p:extLst>
      <p:ext uri="{BB962C8B-B14F-4D97-AF65-F5344CB8AC3E}">
        <p14:creationId xmlns:p14="http://schemas.microsoft.com/office/powerpoint/2010/main" val="4127408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0292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2801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118872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968" y="1536192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context, EV growth, Bangladesh perspective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48256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48256"/>
            <a:ext cx="50292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21284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" y="2121408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6968" y="246888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goals, and research questions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80944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80944"/>
            <a:ext cx="50292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314553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968" y="3054096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86968" y="3401568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in load modeling, ML forecasting, SUMO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913632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913632"/>
            <a:ext cx="50292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4078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86968" y="3986784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Simulation Setup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86968" y="4334256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SUMO environment, road network, charging stations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115568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1115568"/>
            <a:ext cx="50292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12801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67528" y="118872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 Analysis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67528" y="1536192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dataset, correlation, feature importance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2048256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2048256"/>
            <a:ext cx="50292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221284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67528" y="2121408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ML Models &amp; Results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67528" y="246888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Seven models evaluated, comparative analysis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2980944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2980944"/>
            <a:ext cx="50292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14553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67528" y="3054096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&amp; Conclusion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367528" y="3401568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limitations,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EV charging load prediction matters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5120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 Growth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Over 26 million EVs worldwide in 2022 (IEA). Rapid adoption reshapes power grids.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48256"/>
            <a:ext cx="5120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48256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21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Context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Electric three-wheelers (Easy Bikes, E-Rickshaws, E-Vans) dominate urban mobility in cities like Khulna and Jashore.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80944"/>
            <a:ext cx="5120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80944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540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Pressure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3649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Uncoordinated charging causes voltage violations, transformer overloads, and peak-hour congestion on already stressed distribution networks.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913632"/>
            <a:ext cx="5120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913632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86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Need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Accurate spatiotemporal load prediction is essential for smart grid planning, station placement, and demand response.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1115568"/>
            <a:ext cx="324612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23560" y="1161288"/>
            <a:ext cx="3154680" cy="35204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577840" y="46634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Khulna City Road Network (OSM)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8503920" cy="10515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Rapidly growing EV adoption, especially electric three-wheelers in Bangladesh, creates highly dynamic and nonlinear charging load patterns. Existing approaches lack comprehensive simulation-based datasets and multi-model benchmarks tailored to developing-country urban environments.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329184" cy="32918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283464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 a SUMO-based EV simulation with realistic charging stations, queue management and smart rerouting logic.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3584448"/>
            <a:ext cx="329184" cy="32918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358444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4930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rule-based smart charging system based on proximity, slot availability and SOC priority.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4334256"/>
            <a:ext cx="329184" cy="32918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433425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2428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execution with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TraCI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2834640"/>
            <a:ext cx="329184" cy="32918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83464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2676525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comprehensive ML-ready dataset capturing per-vehicle and system-level features across a 600 s simulation run.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3584448"/>
            <a:ext cx="329184" cy="32918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58444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3407283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Analyze model performance using MAE, RMSE, R², MAPE, Accuracy, and Weighted F1-Score.</a:t>
            </a:r>
            <a:endParaRPr lang="en-US" sz="1400" dirty="0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BCB0784F-2D38-ACF8-B4E7-B22405C5A34D}"/>
              </a:ext>
            </a:extLst>
          </p:cNvPr>
          <p:cNvSpPr/>
          <p:nvPr/>
        </p:nvSpPr>
        <p:spPr>
          <a:xfrm>
            <a:off x="4847013" y="4341182"/>
            <a:ext cx="329184" cy="32918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C1B52A45-BF20-1753-6EAE-CCA82E08E771}"/>
              </a:ext>
            </a:extLst>
          </p:cNvPr>
          <p:cNvSpPr/>
          <p:nvPr/>
        </p:nvSpPr>
        <p:spPr>
          <a:xfrm>
            <a:off x="4865301" y="434118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BD888A75-0374-1924-8A01-9EC16F0B3B05}"/>
              </a:ext>
            </a:extLst>
          </p:cNvPr>
          <p:cNvSpPr/>
          <p:nvPr/>
        </p:nvSpPr>
        <p:spPr>
          <a:xfrm>
            <a:off x="5258493" y="4240217"/>
            <a:ext cx="3646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 7 ML / DL models (LR, DT, RF, XGBoost, ANN, LSTM, GRU) for predicting system-level EV charging load.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1604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54E2130-AC06-6F22-F936-21C22324D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891183"/>
              </p:ext>
            </p:extLst>
          </p:nvPr>
        </p:nvGraphicFramePr>
        <p:xfrm>
          <a:off x="382386" y="1235270"/>
          <a:ext cx="8503920" cy="3710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273">
                  <a:extLst>
                    <a:ext uri="{9D8B030D-6E8A-4147-A177-3AD203B41FA5}">
                      <a16:colId xmlns:a16="http://schemas.microsoft.com/office/drawing/2014/main" val="16707812"/>
                    </a:ext>
                  </a:extLst>
                </a:gridCol>
                <a:gridCol w="1457468">
                  <a:extLst>
                    <a:ext uri="{9D8B030D-6E8A-4147-A177-3AD203B41FA5}">
                      <a16:colId xmlns:a16="http://schemas.microsoft.com/office/drawing/2014/main" val="1035030889"/>
                    </a:ext>
                  </a:extLst>
                </a:gridCol>
                <a:gridCol w="2353611">
                  <a:extLst>
                    <a:ext uri="{9D8B030D-6E8A-4147-A177-3AD203B41FA5}">
                      <a16:colId xmlns:a16="http://schemas.microsoft.com/office/drawing/2014/main" val="3836108516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3590159973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1015992786"/>
                    </a:ext>
                  </a:extLst>
                </a:gridCol>
              </a:tblGrid>
              <a:tr h="677635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Reference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Journal Metrics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Existing Systems / Methods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Key Contributions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Research Gaps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253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 err="1"/>
                        <a:t>Vulfovich</a:t>
                      </a:r>
                      <a:r>
                        <a:rPr lang="en-US" sz="1100" dirty="0"/>
                        <a:t> et al. (2021)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Journal: Simulation Modelling Practice and Theory</a:t>
                      </a:r>
                    </a:p>
                    <a:p>
                      <a:r>
                        <a:rPr lang="en-US" sz="1100" dirty="0"/>
                        <a:t>Quartile:Q1</a:t>
                      </a:r>
                    </a:p>
                    <a:p>
                      <a:r>
                        <a:rPr lang="en-US" sz="1100" dirty="0"/>
                        <a:t>Impact Factor: 4.719 (2022)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 Modified First Harmonic Approximation (MFHA) modeling</a:t>
                      </a:r>
                    </a:p>
                    <a:p>
                      <a:r>
                        <a:rPr lang="en-US" sz="1100" dirty="0"/>
                        <a:t>- SN-compensated inductive power transfer links</a:t>
                      </a:r>
                    </a:p>
                    <a:p>
                      <a:r>
                        <a:rPr lang="en-US" sz="1100" dirty="0"/>
                        <a:t>- Load-independent-voltage-output frequency systems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 Advanced modeling of power transfer links</a:t>
                      </a:r>
                    </a:p>
                    <a:p>
                      <a:r>
                        <a:rPr lang="en-US" sz="1100" dirty="0"/>
                        <a:t>- Load-independent voltage output techniques</a:t>
                      </a:r>
                    </a:p>
                    <a:p>
                      <a:r>
                        <a:rPr lang="en-US" sz="1100" dirty="0"/>
                        <a:t>- Simulation frameworks for inductive charging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 Focused on component-level analysis rather than system-level</a:t>
                      </a:r>
                    </a:p>
                    <a:p>
                      <a:r>
                        <a:rPr lang="en-US" sz="1100" dirty="0"/>
                        <a:t>- Limited scalability for grid integration</a:t>
                      </a:r>
                    </a:p>
                    <a:p>
                      <a:r>
                        <a:rPr lang="en-US" sz="1100" dirty="0"/>
                        <a:t>- Insufficient consideration of multiple charging scenarios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200913"/>
                  </a:ext>
                </a:extLst>
              </a:tr>
              <a:tr h="1514713">
                <a:tc>
                  <a:txBody>
                    <a:bodyPr/>
                    <a:lstStyle/>
                    <a:p>
                      <a:r>
                        <a:rPr lang="en-US" sz="1100" dirty="0"/>
                        <a:t>Schreiber &amp; </a:t>
                      </a:r>
                      <a:r>
                        <a:rPr lang="en-US" sz="1100" dirty="0" err="1"/>
                        <a:t>Ulbig</a:t>
                      </a:r>
                      <a:r>
                        <a:rPr lang="en-US" sz="1100" dirty="0"/>
                        <a:t> (2023)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Journal: Energy and AI</a:t>
                      </a:r>
                    </a:p>
                    <a:p>
                      <a:r>
                        <a:rPr lang="en-US" sz="1100" dirty="0"/>
                        <a:t>Quartile:Q1</a:t>
                      </a:r>
                    </a:p>
                    <a:p>
                      <a:r>
                        <a:rPr lang="en-US" sz="1100" dirty="0"/>
                        <a:t>Impact Factor: 7.762 (2022)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 Model selection, adaptation, and combination</a:t>
                      </a:r>
                    </a:p>
                    <a:p>
                      <a:r>
                        <a:rPr lang="en-US" sz="1100" dirty="0"/>
                        <a:t>- Transfer learning for renewable forecasts</a:t>
                      </a:r>
                    </a:p>
                    <a:p>
                      <a:r>
                        <a:rPr lang="en-US" sz="1100" dirty="0"/>
                        <a:t>- Wind and PV power prediction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 Transfer learning techniques for power systems</a:t>
                      </a:r>
                    </a:p>
                    <a:p>
                      <a:r>
                        <a:rPr lang="en-US" sz="1100" dirty="0"/>
                        <a:t>- Model adaptation methodologies</a:t>
                      </a:r>
                    </a:p>
                    <a:p>
                      <a:r>
                        <a:rPr lang="en-US" sz="1100" dirty="0"/>
                        <a:t>- Renewable energy integration framework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 Focus on generation rather than load prediction</a:t>
                      </a:r>
                    </a:p>
                    <a:p>
                      <a:r>
                        <a:rPr lang="en-US" sz="1100" dirty="0"/>
                        <a:t>- Limited application to BPV charging load profiles</a:t>
                      </a:r>
                    </a:p>
                    <a:p>
                      <a:r>
                        <a:rPr lang="en-US" sz="1100" dirty="0"/>
                        <a:t>- Insufficient integration of charging behavior patterns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711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532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1604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54E2130-AC06-6F22-F936-21C22324D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661443"/>
              </p:ext>
            </p:extLst>
          </p:nvPr>
        </p:nvGraphicFramePr>
        <p:xfrm>
          <a:off x="382386" y="1235270"/>
          <a:ext cx="8503920" cy="3792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273">
                  <a:extLst>
                    <a:ext uri="{9D8B030D-6E8A-4147-A177-3AD203B41FA5}">
                      <a16:colId xmlns:a16="http://schemas.microsoft.com/office/drawing/2014/main" val="16707812"/>
                    </a:ext>
                  </a:extLst>
                </a:gridCol>
                <a:gridCol w="1457468">
                  <a:extLst>
                    <a:ext uri="{9D8B030D-6E8A-4147-A177-3AD203B41FA5}">
                      <a16:colId xmlns:a16="http://schemas.microsoft.com/office/drawing/2014/main" val="1035030889"/>
                    </a:ext>
                  </a:extLst>
                </a:gridCol>
                <a:gridCol w="2353611">
                  <a:extLst>
                    <a:ext uri="{9D8B030D-6E8A-4147-A177-3AD203B41FA5}">
                      <a16:colId xmlns:a16="http://schemas.microsoft.com/office/drawing/2014/main" val="3836108516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3590159973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1015992786"/>
                    </a:ext>
                  </a:extLst>
                </a:gridCol>
              </a:tblGrid>
              <a:tr h="677635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Reference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Journal Metrics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Existing Systems / Methods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Key Contributions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Research Gaps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253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 err="1"/>
                        <a:t>Klausmann</a:t>
                      </a:r>
                      <a:r>
                        <a:rPr lang="en-US" sz="1100" dirty="0"/>
                        <a:t> et al. (2023)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Journal: Energy and AI</a:t>
                      </a:r>
                    </a:p>
                    <a:p>
                      <a:r>
                        <a:rPr lang="en-US" sz="1100" dirty="0"/>
                        <a:t>Quartile:Q1</a:t>
                      </a:r>
                    </a:p>
                    <a:p>
                      <a:r>
                        <a:rPr lang="en-US" sz="1100" dirty="0"/>
                        <a:t>Impact Factor: 3.252 (2022)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 Ensemble deep learning for hour-ahead load forecasting</a:t>
                      </a:r>
                    </a:p>
                    <a:p>
                      <a:r>
                        <a:rPr lang="en-US" sz="1100" dirty="0"/>
                        <a:t>- Feature selection approach</a:t>
                      </a:r>
                    </a:p>
                    <a:p>
                      <a:r>
                        <a:rPr lang="en-US" sz="1100" dirty="0"/>
                        <a:t>- Comparative analysis with state-of-the-art 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 Novel ensemble deep learning architecture&lt;</a:t>
                      </a:r>
                      <a:r>
                        <a:rPr lang="en-US" sz="1100" dirty="0" err="1"/>
                        <a:t>br</a:t>
                      </a:r>
                      <a:r>
                        <a:rPr lang="en-US" sz="1100" dirty="0"/>
                        <a:t>&gt;- Effective feature selection methodology&lt;</a:t>
                      </a:r>
                      <a:r>
                        <a:rPr lang="en-US" sz="1100" dirty="0" err="1"/>
                        <a:t>br</a:t>
                      </a:r>
                      <a:r>
                        <a:rPr lang="en-US" sz="1100" dirty="0"/>
                        <a:t>&gt;- Comparative benchmarking of forecasting models</a:t>
                      </a:r>
                    </a:p>
                    <a:p>
                      <a:r>
                        <a:rPr lang="en-US" sz="1100" dirty="0"/>
                        <a:t>etc. 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 Not specifically focused on BPV charging loads</a:t>
                      </a:r>
                    </a:p>
                    <a:p>
                      <a:r>
                        <a:rPr lang="en-US" sz="1100" dirty="0"/>
                        <a:t>- Limited temporal resolution (hour-ahead only)</a:t>
                      </a:r>
                    </a:p>
                    <a:p>
                      <a:r>
                        <a:rPr lang="en-US" sz="1100" dirty="0"/>
                        <a:t>- Lack of spatial distribution consideration in grid 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200913"/>
                  </a:ext>
                </a:extLst>
              </a:tr>
              <a:tr h="1514713">
                <a:tc>
                  <a:txBody>
                    <a:bodyPr/>
                    <a:lstStyle/>
                    <a:p>
                      <a:r>
                        <a:rPr lang="en-US" sz="1100" dirty="0"/>
                        <a:t>Rath et al. (2024)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Journal: Electric Power Systems Research Quartile:Q1</a:t>
                      </a:r>
                    </a:p>
                    <a:p>
                      <a:r>
                        <a:rPr lang="en-US" sz="1100" dirty="0"/>
                        <a:t>Impact Factor: 4.630 (2022)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 Reduced complexity model predictive direct power control</a:t>
                      </a:r>
                    </a:p>
                    <a:p>
                      <a:r>
                        <a:rPr lang="en-US" sz="1100" dirty="0"/>
                        <a:t>- Systems for unbalanced grid conditions</a:t>
                      </a:r>
                    </a:p>
                    <a:p>
                      <a:r>
                        <a:rPr lang="en-US" sz="1100" dirty="0"/>
                        <a:t>- Grid stabilization techniques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 Grid stabilization under unbalanced conditions</a:t>
                      </a:r>
                    </a:p>
                    <a:p>
                      <a:r>
                        <a:rPr lang="en-US" sz="1100" dirty="0"/>
                        <a:t>- Reduced complexity control algorithms</a:t>
                      </a:r>
                    </a:p>
                    <a:p>
                      <a:r>
                        <a:rPr lang="en-US" sz="1100" dirty="0"/>
                        <a:t>- Direct power control methodologies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 Limited focus on demand-side prediction</a:t>
                      </a:r>
                    </a:p>
                    <a:p>
                      <a:r>
                        <a:rPr lang="en-US" sz="1100" dirty="0"/>
                        <a:t>- Insufficient consideration of BPV charging patterns</a:t>
                      </a:r>
                    </a:p>
                    <a:p>
                      <a:r>
                        <a:rPr lang="en-US" sz="1100" dirty="0"/>
                        <a:t>- Lack of machine learning integration for prediction</a:t>
                      </a:r>
                    </a:p>
                    <a:p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711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010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Research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"Monitor – Predict – Control"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4389120" cy="38953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188720"/>
            <a:ext cx="4206240" cy="37536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92040" y="1152144"/>
            <a:ext cx="201168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11521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66360" y="13898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specs, charging patterns, road layout of Khulna &amp; Jashore cities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92040" y="1719072"/>
            <a:ext cx="201168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66360" y="17190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166360" y="19568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v1.25 + TraCI, Python 3.10, Windows 10 workstation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92040" y="2286000"/>
            <a:ext cx="201168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66360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Road Network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66360" y="25237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nodes, 11 bidirectional edges, 8,654 m, based on Khulna arterials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852928"/>
            <a:ext cx="201168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66360" y="28103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 Placement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166360" y="3101305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stations (25–50 kW), 62 charging + 49 waiting slots across 5 edges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92040" y="3419856"/>
            <a:ext cx="201168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145A8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66360" y="339859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Configuration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166360" y="367886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EVs: 34 Easy Bikes, + 33 E-Rickshaws + 33 E-Vans; heterogeneous fleet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892040" y="3986784"/>
            <a:ext cx="201168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86A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66360" y="39867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Charging Logic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166360" y="4224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SOC-based routing (30% threshold → 70% target), FIFO queue promotion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892040" y="4553712"/>
            <a:ext cx="201168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66360" y="45537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Execution via TraCI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166360" y="47914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s run, 1-step monitoring; 34,020 records generated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Simulation Environment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Khulna road network with traffic signals and charging stations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1920240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8,654 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Road Network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75688" y="1115568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75688" y="1115568"/>
            <a:ext cx="1920240" cy="2011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1371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121408" y="1920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31336" y="1115568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31336" y="1115568"/>
            <a:ext cx="1920240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1371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877056" y="1920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96509" y="1115568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86984" y="1115568"/>
            <a:ext cx="1920240" cy="2011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32704" y="1371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632704" y="1920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Duration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52157" y="1115568"/>
            <a:ext cx="14813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52157" y="1115568"/>
            <a:ext cx="148132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88352" y="137160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34,020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388352" y="19202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Generated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685594"/>
            <a:ext cx="4096096" cy="234360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2761488"/>
            <a:ext cx="3931920" cy="2180844"/>
          </a:xfrm>
          <a:prstGeom prst="rect">
            <a:avLst/>
          </a:prstGeom>
        </p:spPr>
      </p:pic>
      <p:sp>
        <p:nvSpPr>
          <p:cNvPr id="31" name="Shape 24">
            <a:extLst>
              <a:ext uri="{FF2B5EF4-FFF2-40B4-BE49-F238E27FC236}">
                <a16:creationId xmlns:a16="http://schemas.microsoft.com/office/drawing/2014/main" id="{2C00A607-F83C-407E-74A2-CAFCC7C9B99E}"/>
              </a:ext>
            </a:extLst>
          </p:cNvPr>
          <p:cNvSpPr/>
          <p:nvPr/>
        </p:nvSpPr>
        <p:spPr>
          <a:xfrm>
            <a:off x="4571584" y="2685594"/>
            <a:ext cx="4196265" cy="234360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65E946DA-1E01-2CCB-50C9-DAD10F4AF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144491"/>
              </p:ext>
            </p:extLst>
          </p:nvPr>
        </p:nvGraphicFramePr>
        <p:xfrm>
          <a:off x="4663024" y="2807208"/>
          <a:ext cx="3982212" cy="2143735"/>
        </p:xfrm>
        <a:graphic>
          <a:graphicData uri="http://schemas.openxmlformats.org/drawingml/2006/table">
            <a:tbl>
              <a:tblPr/>
              <a:tblGrid>
                <a:gridCol w="1031194">
                  <a:extLst>
                    <a:ext uri="{9D8B030D-6E8A-4147-A177-3AD203B41FA5}">
                      <a16:colId xmlns:a16="http://schemas.microsoft.com/office/drawing/2014/main" val="2678028350"/>
                    </a:ext>
                  </a:extLst>
                </a:gridCol>
                <a:gridCol w="1392382">
                  <a:extLst>
                    <a:ext uri="{9D8B030D-6E8A-4147-A177-3AD203B41FA5}">
                      <a16:colId xmlns:a16="http://schemas.microsoft.com/office/drawing/2014/main" val="366697314"/>
                    </a:ext>
                  </a:extLst>
                </a:gridCol>
                <a:gridCol w="1558636">
                  <a:extLst>
                    <a:ext uri="{9D8B030D-6E8A-4147-A177-3AD203B41FA5}">
                      <a16:colId xmlns:a16="http://schemas.microsoft.com/office/drawing/2014/main" val="2338976362"/>
                    </a:ext>
                  </a:extLst>
                </a:gridCol>
              </a:tblGrid>
              <a:tr h="222214">
                <a:tc>
                  <a:txBody>
                    <a:bodyPr/>
                    <a:lstStyle/>
                    <a:p>
                      <a:r>
                        <a:rPr lang="en-US" sz="1000" b="1" dirty="0"/>
                        <a:t>Direction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Route ID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Edge Sequence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848731"/>
                  </a:ext>
                </a:extLst>
              </a:tr>
              <a:tr h="207867">
                <a:tc>
                  <a:txBody>
                    <a:bodyPr/>
                    <a:lstStyle/>
                    <a:p>
                      <a:r>
                        <a:rPr lang="en-US" sz="900" dirty="0"/>
                        <a:t>Forward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route1_forward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E0 → E1 → E2 → E3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58536"/>
                  </a:ext>
                </a:extLst>
              </a:tr>
              <a:tr h="207867">
                <a:tc>
                  <a:txBody>
                    <a:bodyPr/>
                    <a:lstStyle/>
                    <a:p>
                      <a:r>
                        <a:rPr lang="en-US" sz="900" dirty="0"/>
                        <a:t>Forward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route2_forward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E0 → E1 → E9 → E8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917509"/>
                  </a:ext>
                </a:extLst>
              </a:tr>
              <a:tr h="249051">
                <a:tc>
                  <a:txBody>
                    <a:bodyPr/>
                    <a:lstStyle/>
                    <a:p>
                      <a:r>
                        <a:rPr lang="en-US" sz="900" dirty="0"/>
                        <a:t>Forward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route3_forward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E4 → E5 → E6 → E7 → E8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300909"/>
                  </a:ext>
                </a:extLst>
              </a:tr>
              <a:tr h="207867">
                <a:tc>
                  <a:txBody>
                    <a:bodyPr/>
                    <a:lstStyle/>
                    <a:p>
                      <a:r>
                        <a:rPr lang="en-US" sz="900"/>
                        <a:t>Forward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route4_forward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E0 → E10 → E7 → E8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957859"/>
                  </a:ext>
                </a:extLst>
              </a:tr>
              <a:tr h="249051">
                <a:tc>
                  <a:txBody>
                    <a:bodyPr/>
                    <a:lstStyle/>
                    <a:p>
                      <a:r>
                        <a:rPr lang="en-US" sz="900"/>
                        <a:t>Reverse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route1_reverse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-E3 → -E2 → -E1 → -E0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827436"/>
                  </a:ext>
                </a:extLst>
              </a:tr>
              <a:tr h="249051">
                <a:tc>
                  <a:txBody>
                    <a:bodyPr/>
                    <a:lstStyle/>
                    <a:p>
                      <a:r>
                        <a:rPr lang="en-US" sz="900"/>
                        <a:t>Reverse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route2_reverse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-E8 → -E9 → -E1 → -E0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172108"/>
                  </a:ext>
                </a:extLst>
              </a:tr>
              <a:tr h="249051">
                <a:tc>
                  <a:txBody>
                    <a:bodyPr/>
                    <a:lstStyle/>
                    <a:p>
                      <a:r>
                        <a:rPr lang="en-US" sz="900"/>
                        <a:t>Reverse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route3_reverse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-E8 → -E7 → -E6 → -E5 → -E4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347584"/>
                  </a:ext>
                </a:extLst>
              </a:tr>
              <a:tr h="249051">
                <a:tc>
                  <a:txBody>
                    <a:bodyPr/>
                    <a:lstStyle/>
                    <a:p>
                      <a:r>
                        <a:rPr lang="en-US" sz="900" dirty="0"/>
                        <a:t>Reverse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route4_reverse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-E8 → -E7 → -E10 → -E0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604480"/>
                  </a:ext>
                </a:extLst>
              </a:tr>
            </a:tbl>
          </a:graphicData>
        </a:graphic>
      </p:graphicFrame>
      <p:sp>
        <p:nvSpPr>
          <p:cNvPr id="29" name="Text 26">
            <a:extLst>
              <a:ext uri="{FF2B5EF4-FFF2-40B4-BE49-F238E27FC236}">
                <a16:creationId xmlns:a16="http://schemas.microsoft.com/office/drawing/2014/main" id="{2D9F870D-4064-CA48-B5AC-D08D8232FE1A}"/>
              </a:ext>
            </a:extLst>
          </p:cNvPr>
          <p:cNvSpPr/>
          <p:nvPr/>
        </p:nvSpPr>
        <p:spPr>
          <a:xfrm>
            <a:off x="4604837" y="2331722"/>
            <a:ext cx="42191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Definitions and Edge Sequences</a:t>
            </a:r>
            <a:endParaRPr lang="en-US" sz="13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2485AC8A-5099-9FD8-62CC-BBF59D435A2B}"/>
              </a:ext>
            </a:extLst>
          </p:cNvPr>
          <p:cNvSpPr/>
          <p:nvPr/>
        </p:nvSpPr>
        <p:spPr>
          <a:xfrm>
            <a:off x="361876" y="2328257"/>
            <a:ext cx="42191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</a:t>
            </a:r>
            <a:r>
              <a:rPr lang="en-US" sz="1300" b="1" dirty="0" err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netedit</a:t>
            </a: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Custom Microscopic Road Network</a:t>
            </a:r>
          </a:p>
        </p:txBody>
      </p:sp>
    </p:spTree>
    <p:extLst>
      <p:ext uri="{BB962C8B-B14F-4D97-AF65-F5344CB8AC3E}">
        <p14:creationId xmlns:p14="http://schemas.microsoft.com/office/powerpoint/2010/main" val="119674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Simulation Environment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Khulna road network with traffic signals and charging stations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39" y="960120"/>
            <a:ext cx="8680561" cy="45719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1426464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20040" y="488788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SUMO netedit – Custom Microscopic Road Network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407408" y="10744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 Configuration</a:t>
            </a:r>
            <a:endParaRPr lang="en-US" sz="1300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41F96497-7750-3F8E-F9AB-94181039A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793762"/>
              </p:ext>
            </p:extLst>
          </p:nvPr>
        </p:nvGraphicFramePr>
        <p:xfrm>
          <a:off x="4343400" y="1426464"/>
          <a:ext cx="465720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8284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/>
                        <a:t>Station ID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Edge ID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/>
                        <a:t>Power (kW)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Charging Slots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/>
                        <a:t>Waiting Slots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97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97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pa_2_rev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97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97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pa_3_rev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97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/>
                        <a:t>pa_6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97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pa_6_rev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97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pa_7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97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pa_7_rev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-E6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97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pa_8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97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pa_8_rev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697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35" name="Picture 34">
            <a:extLst>
              <a:ext uri="{FF2B5EF4-FFF2-40B4-BE49-F238E27FC236}">
                <a16:creationId xmlns:a16="http://schemas.microsoft.com/office/drawing/2014/main" id="{5B2B8E6E-A2F0-4855-2C86-CCE507549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15" y="1537855"/>
            <a:ext cx="3753649" cy="3261706"/>
          </a:xfrm>
          <a:prstGeom prst="rect">
            <a:avLst/>
          </a:prstGeom>
        </p:spPr>
      </p:pic>
      <p:sp>
        <p:nvSpPr>
          <p:cNvPr id="36" name="Text 26">
            <a:extLst>
              <a:ext uri="{FF2B5EF4-FFF2-40B4-BE49-F238E27FC236}">
                <a16:creationId xmlns:a16="http://schemas.microsoft.com/office/drawing/2014/main" id="{E6BEC7DC-C1F2-DBC7-B13C-66F843815E23}"/>
              </a:ext>
            </a:extLst>
          </p:cNvPr>
          <p:cNvSpPr/>
          <p:nvPr/>
        </p:nvSpPr>
        <p:spPr>
          <a:xfrm>
            <a:off x="372268" y="10605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 Implementation in SUMO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Fleet &amp; Smart Charging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20040" y="1115568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787980"/>
              </p:ext>
            </p:extLst>
          </p:nvPr>
        </p:nvGraphicFramePr>
        <p:xfrm>
          <a:off x="330431" y="3701658"/>
          <a:ext cx="8503920" cy="1295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Bike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E-Rickshaw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E-Van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(Wh)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5,760 – 7,200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(kg)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 – 354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 – 218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 – 219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Power (W)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– 1,200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 – 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– 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Speed (km/h)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–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–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–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617720" y="980485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Charging Decision Logic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0" y="1373677"/>
            <a:ext cx="14173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645152" y="137367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&lt; 30%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9904" y="139196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re-routing to nearest station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617720" y="1693717"/>
            <a:ext cx="14173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45152" y="169371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089904" y="171200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station has free charging slot → route there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17720" y="2013757"/>
            <a:ext cx="14173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45152" y="201375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089904" y="203204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full → check 2nd nearest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17720" y="2333797"/>
            <a:ext cx="14173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45152" y="233379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089904" y="235208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nearest has charging slot → route there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17720" y="2653837"/>
            <a:ext cx="14173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645152" y="265383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089904" y="267212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nearest has waiting slot → enqueue (FIFO)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17720" y="2973877"/>
            <a:ext cx="14173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645152" y="297387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089904" y="299216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full → no reroute; continue current route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617720" y="3293917"/>
            <a:ext cx="141732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645152" y="329391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SOC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089904" y="331220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session ends at 70% SOC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Fleet &amp; Smart Charging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F9E6A33-102F-094C-7C1F-377EC7E5D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535627"/>
              </p:ext>
            </p:extLst>
          </p:nvPr>
        </p:nvGraphicFramePr>
        <p:xfrm>
          <a:off x="457200" y="1371600"/>
          <a:ext cx="83210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1050" dirty="0"/>
                        <a:t>Parameter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1050" dirty="0"/>
                        <a:t>Easy Bike</a:t>
                      </a:r>
                    </a:p>
                  </a:txBody>
                  <a:tcPr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1050" dirty="0"/>
                        <a:t>E-Rickshaw</a:t>
                      </a:r>
                    </a:p>
                  </a:txBody>
                  <a:tcPr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1050" dirty="0"/>
                        <a:t>E-Van</a:t>
                      </a:r>
                    </a:p>
                  </a:txBody>
                  <a:tcPr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Body Dimensions (L×W×H)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2.5×1.5×1.4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2.3×1.0×1.8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2.4×1.3×0.8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Vehicle Mass (kg)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345 – 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198 – 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198 – 219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 dirty="0"/>
                        <a:t>Battery Capacity (</a:t>
                      </a:r>
                      <a:r>
                        <a:rPr sz="1050" dirty="0" err="1"/>
                        <a:t>Wh</a:t>
                      </a:r>
                      <a:r>
                        <a:rPr sz="105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5,760 – 7,200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5,760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Max Power 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1,000 – 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900 – 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800 – 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Acceleration (m/s²)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1.15 – 1.31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0.58 – 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0.68 – 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Deceleration (m/s²)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2.45 – 2.58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2.48 – 2.67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2.58 – 2.77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Air Drag Coeff. (Cd)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0.727 – 0.760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0.804 – 0.910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0.754 – 0.860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Avg. Propulsion Eff.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0.890 – 0.896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0.830 – 0.834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0.820 – 0.826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Avg. Recup. Eff.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0.745 – 0.751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0.650 – 0.656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0.550 – 0.556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Const. Power Intake 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80 – 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29 – 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24 – 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Front Surface Area (m²)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2.41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Reaction Time (τ)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1.88 – 1.94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1.72 – 1.76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0.87 – 0.92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Visual Color (SUMO-GUI)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Magenta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/>
                        <a:t>Blue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0" name="Text 3">
            <a:extLst>
              <a:ext uri="{FF2B5EF4-FFF2-40B4-BE49-F238E27FC236}">
                <a16:creationId xmlns:a16="http://schemas.microsoft.com/office/drawing/2014/main" id="{5BEE8C00-AFD0-D2C9-4134-FCCBB1310127}"/>
              </a:ext>
            </a:extLst>
          </p:cNvPr>
          <p:cNvSpPr/>
          <p:nvPr/>
        </p:nvSpPr>
        <p:spPr>
          <a:xfrm>
            <a:off x="2478232" y="980485"/>
            <a:ext cx="4187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Parameter Configuration in SUMO (Averaged Values)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78219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System Load Profile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34,020 records from a 600-second SUMO simulation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1920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1920240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84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34,020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7124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84832" y="1115568"/>
            <a:ext cx="1920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1115568"/>
            <a:ext cx="1764792" cy="2011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12884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30552" y="17124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83368" y="1115568"/>
            <a:ext cx="1920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72977" y="1115568"/>
            <a:ext cx="1920240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1268" y="12884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48701" y="16945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Time Steps (s)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9558" y="1115568"/>
            <a:ext cx="19202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09167" y="1115568"/>
            <a:ext cx="1920240" cy="2011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4105" y="12884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1,340 kW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109413" y="17124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Peak Load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67478" y="1115568"/>
            <a:ext cx="1764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57087" y="1115568"/>
            <a:ext cx="1764792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461" y="12884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723.8 kW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98897" y="17124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Mean Load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2221992"/>
            <a:ext cx="8503920" cy="2679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2276024"/>
            <a:ext cx="8321040" cy="25520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320040" y="4904925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/>
              <a:t>Figure: System Total EV Charging Load over Simulation Time (1–600 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System Load Profile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34,020 records from a 600-second SUMO simulation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1346660"/>
            <a:ext cx="8503920" cy="366674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53FCFC3-CE62-A21C-7469-2E846B87B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529377"/>
              </p:ext>
            </p:extLst>
          </p:nvPr>
        </p:nvGraphicFramePr>
        <p:xfrm>
          <a:off x="457200" y="1463040"/>
          <a:ext cx="822960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sz="1200" dirty="0"/>
                        <a:t>Property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/>
                      </a:pPr>
                      <a:r>
                        <a:rPr sz="1200" dirty="0"/>
                        <a:t>Value</a:t>
                      </a:r>
                    </a:p>
                  </a:txBody>
                  <a:tcPr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Total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34,020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Number of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Unique vehicles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Simulation duration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1 – 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Status: Driving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19,710 (57.9%)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Status: Charging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11,980 (35.2%)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Status: Waiting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1,720 (5.1%)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Status: Idle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610 (1.8%)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System load: Minimum (kW)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System load: Mean (kW)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723.82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/>
                        <a:t>System load: Maximum (kW)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r>
                        <a:rPr sz="1200" dirty="0"/>
                        <a:t>1,340.00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0" name="Text 3">
            <a:extLst>
              <a:ext uri="{FF2B5EF4-FFF2-40B4-BE49-F238E27FC236}">
                <a16:creationId xmlns:a16="http://schemas.microsoft.com/office/drawing/2014/main" id="{86FAA006-E26B-B758-37E2-44C53E0ACA17}"/>
              </a:ext>
            </a:extLst>
          </p:cNvPr>
          <p:cNvSpPr/>
          <p:nvPr/>
        </p:nvSpPr>
        <p:spPr>
          <a:xfrm>
            <a:off x="2478232" y="1011658"/>
            <a:ext cx="4187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Load Demand Dataset Summary</a:t>
            </a:r>
          </a:p>
        </p:txBody>
      </p:sp>
    </p:spTree>
    <p:extLst>
      <p:ext uri="{BB962C8B-B14F-4D97-AF65-F5344CB8AC3E}">
        <p14:creationId xmlns:p14="http://schemas.microsoft.com/office/powerpoint/2010/main" val="1084397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&amp; Importance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4206240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188720"/>
            <a:ext cx="402336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Pearson Correlation Heatmap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1115568"/>
            <a:ext cx="411480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188720"/>
            <a:ext cx="3931920" cy="344728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0040" y="4828032"/>
            <a:ext cx="4206240" cy="219456"/>
          </a:xfrm>
          <a:prstGeom prst="rect">
            <a:avLst/>
          </a:prstGeom>
          <a:solidFill>
            <a:srgbClr val="E8F0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709160" y="481660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timestep_sec, system_total_vehicles  →  top XGBoost features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709160" y="496163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Speed, acceleration, SOC  →  low marginal importance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</a:t>
            </a:r>
            <a:r>
              <a:rPr lang="en-US" sz="13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54864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216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" y="14904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Config: Ridge (α=100)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" y="169164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25.7 / R²=0.9946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93976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93976"/>
            <a:ext cx="54864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2167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" y="244144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Config: max_depth=3, min_samples=30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" y="264261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33.5 / R²=0.9904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44952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44952"/>
            <a:ext cx="54864" cy="804672"/>
          </a:xfrm>
          <a:prstGeom prst="rect">
            <a:avLst/>
          </a:prstGeom>
          <a:solidFill>
            <a:srgbClr val="7BA7BC"/>
          </a:solidFill>
          <a:ln w="12700">
            <a:solidFill>
              <a:srgbClr val="7BA7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" y="339242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Config: 50 trees, max_depth=3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" y="35935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39.7 / R²=0.9878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995928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995928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" y="434340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Config: lr=0.05, depth=2, L1+L2 reg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" y="454456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41.7 / R²=0.9854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143000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14300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09560" y="1179576"/>
            <a:ext cx="804672" cy="228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9560" y="117957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★ BEST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74336" y="1216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(Best Model)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74336" y="14904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Config: 128→64→32, BN+Dropout(0.2)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74336" y="169164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19.2 / R²=0.9967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093976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093976"/>
            <a:ext cx="54864" cy="8046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2167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74336" y="244144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Config: 64+32 units, W=5 lookback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74336" y="264261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84.2 / R²=0.9365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044952"/>
            <a:ext cx="3977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3044952"/>
            <a:ext cx="54864" cy="804672"/>
          </a:xfrm>
          <a:prstGeom prst="rect">
            <a:avLst/>
          </a:prstGeom>
          <a:solidFill>
            <a:srgbClr val="186A3E"/>
          </a:solidFill>
          <a:ln w="12700">
            <a:solidFill>
              <a:srgbClr val="186A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74336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74336" y="339242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Config: 64+32 units, W=5 lookback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74336" y="35935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81.5 / R²=0.9444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</a:rPr>
              <a:t>Actual vs. Predicted — Classical Models (5-Fold CV)</a:t>
            </a:r>
          </a:p>
        </p:txBody>
      </p:sp>
      <p:sp>
        <p:nvSpPr>
          <p:cNvPr id="4" name="Div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Card0"/>
          <p:cNvSpPr/>
          <p:nvPr/>
        </p:nvSpPr>
        <p:spPr>
          <a:xfrm>
            <a:off x="260000" y="1076576"/>
            <a:ext cx="4200000" cy="38657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g0" descr="scatter_linear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00" y="1143909"/>
            <a:ext cx="4100000" cy="2819837"/>
          </a:xfrm>
          <a:prstGeom prst="rect">
            <a:avLst/>
          </a:prstGeom>
        </p:spPr>
      </p:pic>
      <p:sp>
        <p:nvSpPr>
          <p:cNvPr id="12" name="Name0"/>
          <p:cNvSpPr/>
          <p:nvPr/>
        </p:nvSpPr>
        <p:spPr>
          <a:xfrm>
            <a:off x="310000" y="3915117"/>
            <a:ext cx="4100000" cy="21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ctr"/>
            <a:r>
              <a:rPr lang="en-US" sz="900" b="1" dirty="0">
                <a:solidFill>
                  <a:srgbClr val="1E293B"/>
                </a:solidFill>
              </a:rPr>
              <a:t>Linear Regression</a:t>
            </a:r>
            <a:endParaRPr lang="en-US" sz="800" b="1" dirty="0">
              <a:solidFill>
                <a:srgbClr val="0D7377"/>
              </a:solidFill>
            </a:endParaRPr>
          </a:p>
        </p:txBody>
      </p:sp>
      <p:sp>
        <p:nvSpPr>
          <p:cNvPr id="14" name="Det0"/>
          <p:cNvSpPr/>
          <p:nvPr/>
        </p:nvSpPr>
        <p:spPr>
          <a:xfrm>
            <a:off x="347296" y="4329141"/>
            <a:ext cx="4100000" cy="533803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marL="0" indent="0" algn="l">
              <a:buNone/>
            </a:pPr>
            <a:r>
              <a:rPr lang="en-US" sz="1000" b="0" dirty="0"/>
              <a:t>• Points hug y=x tightly across full 0–1340 kW range.</a:t>
            </a:r>
          </a:p>
          <a:p>
            <a:pPr marL="0" indent="0" algn="l">
              <a:buNone/>
            </a:pPr>
            <a:r>
              <a:rPr lang="en-US" sz="1000" b="0" dirty="0"/>
              <a:t>• Ridge regularization (α=100) prevents overfit.</a:t>
            </a:r>
          </a:p>
          <a:p>
            <a:pPr marL="0" indent="0" algn="l">
              <a:buNone/>
            </a:pPr>
            <a:r>
              <a:rPr lang="en-US" sz="1000" b="0" dirty="0"/>
              <a:t>• Confirms strong linear structure in charging load data.</a:t>
            </a:r>
          </a:p>
        </p:txBody>
      </p:sp>
      <p:sp>
        <p:nvSpPr>
          <p:cNvPr id="15" name="Card1"/>
          <p:cNvSpPr/>
          <p:nvPr/>
        </p:nvSpPr>
        <p:spPr>
          <a:xfrm>
            <a:off x="4580000" y="1076576"/>
            <a:ext cx="4200000" cy="38657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Img1" descr="scatter_decision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000" y="1143910"/>
            <a:ext cx="4100000" cy="2819836"/>
          </a:xfrm>
          <a:prstGeom prst="rect">
            <a:avLst/>
          </a:prstGeom>
        </p:spPr>
      </p:pic>
      <p:sp>
        <p:nvSpPr>
          <p:cNvPr id="17" name="Name1"/>
          <p:cNvSpPr/>
          <p:nvPr/>
        </p:nvSpPr>
        <p:spPr>
          <a:xfrm>
            <a:off x="4630000" y="3915117"/>
            <a:ext cx="4100000" cy="21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ctr"/>
            <a:r>
              <a:rPr lang="en-US" sz="900" b="1" dirty="0">
                <a:solidFill>
                  <a:srgbClr val="1E293B"/>
                </a:solidFill>
              </a:rPr>
              <a:t>Decision Tree</a:t>
            </a:r>
            <a:endParaRPr lang="en-US" sz="800" b="1" dirty="0">
              <a:solidFill>
                <a:srgbClr val="0D7377"/>
              </a:solidFill>
            </a:endParaRPr>
          </a:p>
        </p:txBody>
      </p:sp>
      <p:sp>
        <p:nvSpPr>
          <p:cNvPr id="19" name="Det1"/>
          <p:cNvSpPr/>
          <p:nvPr/>
        </p:nvSpPr>
        <p:spPr>
          <a:xfrm>
            <a:off x="4696704" y="4331641"/>
            <a:ext cx="4100000" cy="533803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marL="0" indent="0" algn="l">
              <a:buNone/>
            </a:pPr>
            <a:r>
              <a:rPr lang="en-US" sz="1000" b="0" dirty="0"/>
              <a:t>• Stepped horizontal bands — signature of max_depth=3 leaf nodes.</a:t>
            </a:r>
          </a:p>
          <a:p>
            <a:pPr marL="0" indent="0" algn="l">
              <a:buNone/>
            </a:pPr>
            <a:r>
              <a:rPr lang="en-US" sz="1000" b="0" dirty="0"/>
              <a:t>• High R² but limited prediction granularity.</a:t>
            </a:r>
          </a:p>
          <a:p>
            <a:pPr marL="0" indent="0" algn="l">
              <a:buNone/>
            </a:pPr>
            <a:r>
              <a:rPr lang="en-US" sz="1000" b="0" dirty="0"/>
              <a:t>• Weakest scatter density among classical models.</a:t>
            </a:r>
          </a:p>
        </p:txBody>
      </p:sp>
      <p:sp>
        <p:nvSpPr>
          <p:cNvPr id="7" name="Name0">
            <a:extLst>
              <a:ext uri="{FF2B5EF4-FFF2-40B4-BE49-F238E27FC236}">
                <a16:creationId xmlns:a16="http://schemas.microsoft.com/office/drawing/2014/main" id="{3FDDE3C9-C5CA-3867-2971-D2B03A40767E}"/>
              </a:ext>
            </a:extLst>
          </p:cNvPr>
          <p:cNvSpPr/>
          <p:nvPr/>
        </p:nvSpPr>
        <p:spPr>
          <a:xfrm>
            <a:off x="306535" y="4067517"/>
            <a:ext cx="4100000" cy="21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ctr"/>
            <a:r>
              <a:rPr lang="en-US" sz="800" b="1" dirty="0">
                <a:solidFill>
                  <a:srgbClr val="0D7377"/>
                </a:solidFill>
              </a:rPr>
              <a:t>R²=0.9946 | MAE=25.70 kW | RMSE=32.69 kW | Acc=94.53%</a:t>
            </a:r>
          </a:p>
        </p:txBody>
      </p:sp>
      <p:sp>
        <p:nvSpPr>
          <p:cNvPr id="8" name="Name1">
            <a:extLst>
              <a:ext uri="{FF2B5EF4-FFF2-40B4-BE49-F238E27FC236}">
                <a16:creationId xmlns:a16="http://schemas.microsoft.com/office/drawing/2014/main" id="{896A6D44-AE34-158E-B7F9-FF84AE70E2EF}"/>
              </a:ext>
            </a:extLst>
          </p:cNvPr>
          <p:cNvSpPr/>
          <p:nvPr/>
        </p:nvSpPr>
        <p:spPr>
          <a:xfrm>
            <a:off x="4626535" y="4067517"/>
            <a:ext cx="4100000" cy="21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ctr"/>
            <a:r>
              <a:rPr lang="en-US" sz="800" b="1" dirty="0">
                <a:solidFill>
                  <a:srgbClr val="0D7377"/>
                </a:solidFill>
              </a:rPr>
              <a:t>R²=0.9904 | MAE=33.53 kW | RMSE=43.55 kW | Acc=92.61%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</a:rPr>
              <a:t>Actual vs. Predicted — Classical Models (5-Fold CV)</a:t>
            </a:r>
          </a:p>
        </p:txBody>
      </p:sp>
      <p:sp>
        <p:nvSpPr>
          <p:cNvPr id="4" name="Div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Card2"/>
          <p:cNvSpPr/>
          <p:nvPr/>
        </p:nvSpPr>
        <p:spPr>
          <a:xfrm>
            <a:off x="260000" y="1091045"/>
            <a:ext cx="4200000" cy="395893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g2" descr="scatter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00" y="1171750"/>
            <a:ext cx="4100000" cy="2880705"/>
          </a:xfrm>
          <a:prstGeom prst="rect">
            <a:avLst/>
          </a:prstGeom>
        </p:spPr>
      </p:pic>
      <p:sp>
        <p:nvSpPr>
          <p:cNvPr id="22" name="Name2"/>
          <p:cNvSpPr/>
          <p:nvPr/>
        </p:nvSpPr>
        <p:spPr>
          <a:xfrm>
            <a:off x="310000" y="4125078"/>
            <a:ext cx="3971055" cy="1735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ctr"/>
            <a:r>
              <a:rPr lang="en-US" sz="900" b="1" dirty="0">
                <a:solidFill>
                  <a:srgbClr val="1E293B"/>
                </a:solidFill>
              </a:rPr>
              <a:t>Random Forest</a:t>
            </a:r>
          </a:p>
        </p:txBody>
      </p:sp>
      <p:sp>
        <p:nvSpPr>
          <p:cNvPr id="24" name="Det2"/>
          <p:cNvSpPr/>
          <p:nvPr/>
        </p:nvSpPr>
        <p:spPr>
          <a:xfrm>
            <a:off x="310000" y="4524751"/>
            <a:ext cx="4100000" cy="45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marL="0" indent="0" algn="l">
              <a:buNone/>
            </a:pPr>
            <a:r>
              <a:rPr lang="en-US" sz="1000" b="0" dirty="0"/>
              <a:t>• Ensemble averaging smooths Decision Tree stepped pattern.</a:t>
            </a:r>
          </a:p>
          <a:p>
            <a:pPr marL="0" indent="0" algn="l">
              <a:buNone/>
            </a:pPr>
            <a:r>
              <a:rPr lang="en-US" sz="1000" b="0" dirty="0"/>
              <a:t>• Mild spread visible in the 800–1100 kW region.</a:t>
            </a:r>
          </a:p>
          <a:p>
            <a:pPr marL="0" indent="0" algn="l">
              <a:buNone/>
            </a:pPr>
            <a:r>
              <a:rPr lang="en-US" sz="1000" b="0" dirty="0"/>
              <a:t>• Constrained depth &amp; features ensure honest generalization.</a:t>
            </a:r>
          </a:p>
        </p:txBody>
      </p:sp>
      <p:sp>
        <p:nvSpPr>
          <p:cNvPr id="25" name="Card3"/>
          <p:cNvSpPr/>
          <p:nvPr/>
        </p:nvSpPr>
        <p:spPr>
          <a:xfrm>
            <a:off x="4580000" y="1091045"/>
            <a:ext cx="4200000" cy="395893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6" name="Img3" descr="scatter_xgbo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000" y="1171750"/>
            <a:ext cx="4100000" cy="2880705"/>
          </a:xfrm>
          <a:prstGeom prst="rect">
            <a:avLst/>
          </a:prstGeom>
        </p:spPr>
      </p:pic>
      <p:sp>
        <p:nvSpPr>
          <p:cNvPr id="27" name="Name3"/>
          <p:cNvSpPr/>
          <p:nvPr/>
        </p:nvSpPr>
        <p:spPr>
          <a:xfrm>
            <a:off x="4630000" y="4083578"/>
            <a:ext cx="4100000" cy="21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ctr"/>
            <a:r>
              <a:rPr lang="en-US" sz="900" b="1" dirty="0" err="1">
                <a:solidFill>
                  <a:srgbClr val="1E293B"/>
                </a:solidFill>
              </a:rPr>
              <a:t>XGBoost</a:t>
            </a:r>
            <a:endParaRPr lang="en-US" sz="800" b="1" dirty="0">
              <a:solidFill>
                <a:srgbClr val="0D7377"/>
              </a:solidFill>
            </a:endParaRPr>
          </a:p>
        </p:txBody>
      </p:sp>
      <p:sp>
        <p:nvSpPr>
          <p:cNvPr id="29" name="Det3"/>
          <p:cNvSpPr/>
          <p:nvPr/>
        </p:nvSpPr>
        <p:spPr>
          <a:xfrm>
            <a:off x="4705000" y="4520012"/>
            <a:ext cx="4100000" cy="45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marL="0" indent="0" algn="l">
              <a:buNone/>
            </a:pPr>
            <a:r>
              <a:rPr lang="en-US" sz="1000" b="0" dirty="0"/>
              <a:t>• Diagonal trend with slight spread in mid-load (400–800 kW).</a:t>
            </a:r>
          </a:p>
          <a:p>
            <a:pPr marL="0" indent="0" algn="l">
              <a:buNone/>
            </a:pPr>
            <a:r>
              <a:rPr lang="en-US" sz="1000" b="0" dirty="0"/>
              <a:t>• Heavy regularization (subsample=0.55, λ=5) prevents overfit.</a:t>
            </a:r>
          </a:p>
          <a:p>
            <a:pPr marL="0" indent="0" algn="l">
              <a:buNone/>
            </a:pPr>
            <a:r>
              <a:rPr lang="en-US" sz="1000" b="0" dirty="0"/>
              <a:t>• Lowest R² among classical models on this 600-sample dataset.</a:t>
            </a:r>
          </a:p>
        </p:txBody>
      </p:sp>
      <p:sp>
        <p:nvSpPr>
          <p:cNvPr id="5" name="Name2">
            <a:extLst>
              <a:ext uri="{FF2B5EF4-FFF2-40B4-BE49-F238E27FC236}">
                <a16:creationId xmlns:a16="http://schemas.microsoft.com/office/drawing/2014/main" id="{CA2E9970-B634-E298-CED3-F2A91A23498E}"/>
              </a:ext>
            </a:extLst>
          </p:cNvPr>
          <p:cNvSpPr/>
          <p:nvPr/>
        </p:nvSpPr>
        <p:spPr>
          <a:xfrm>
            <a:off x="316926" y="4277478"/>
            <a:ext cx="3971055" cy="1735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ctr"/>
            <a:r>
              <a:rPr lang="en-US" sz="800" b="1" dirty="0">
                <a:solidFill>
                  <a:srgbClr val="0D7377"/>
                </a:solidFill>
              </a:rPr>
              <a:t>R²=0.9878 | MAE=39.71 kW | RMSE=48.96 kW | Acc=92.80%</a:t>
            </a:r>
          </a:p>
        </p:txBody>
      </p:sp>
      <p:sp>
        <p:nvSpPr>
          <p:cNvPr id="6" name="Name3">
            <a:extLst>
              <a:ext uri="{FF2B5EF4-FFF2-40B4-BE49-F238E27FC236}">
                <a16:creationId xmlns:a16="http://schemas.microsoft.com/office/drawing/2014/main" id="{63F5397F-419A-85CA-3F03-F5302BD85ECF}"/>
              </a:ext>
            </a:extLst>
          </p:cNvPr>
          <p:cNvSpPr/>
          <p:nvPr/>
        </p:nvSpPr>
        <p:spPr>
          <a:xfrm>
            <a:off x="4636926" y="4235978"/>
            <a:ext cx="4100000" cy="21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algn="ctr"/>
            <a:r>
              <a:rPr lang="en-US" sz="800" b="1" dirty="0">
                <a:solidFill>
                  <a:srgbClr val="0D7377"/>
                </a:solidFill>
              </a:rPr>
              <a:t>R²=0.9854 | MAE=41.71 kW | RMSE=53.52 kW | Acc=93.46%</a:t>
            </a:r>
          </a:p>
        </p:txBody>
      </p:sp>
    </p:spTree>
    <p:extLst>
      <p:ext uri="{BB962C8B-B14F-4D97-AF65-F5344CB8AC3E}">
        <p14:creationId xmlns:p14="http://schemas.microsoft.com/office/powerpoint/2010/main" val="2182984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B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itB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</a:rPr>
              <a:t>Actual vs. Predicted — Deep Learning Models (5-Fold CV)</a:t>
            </a:r>
          </a:p>
        </p:txBody>
      </p:sp>
      <p:sp>
        <p:nvSpPr>
          <p:cNvPr id="4" name="DivB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CardB0"/>
          <p:cNvSpPr/>
          <p:nvPr/>
        </p:nvSpPr>
        <p:spPr>
          <a:xfrm>
            <a:off x="220000" y="1010000"/>
            <a:ext cx="2820000" cy="39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gB0" descr="scatter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00" y="1040000"/>
            <a:ext cx="2720000" cy="2550000"/>
          </a:xfrm>
          <a:prstGeom prst="rect">
            <a:avLst/>
          </a:prstGeom>
        </p:spPr>
      </p:pic>
      <p:sp>
        <p:nvSpPr>
          <p:cNvPr id="12" name="NamB0"/>
          <p:cNvSpPr/>
          <p:nvPr/>
        </p:nvSpPr>
        <p:spPr>
          <a:xfrm>
            <a:off x="270000" y="3600000"/>
            <a:ext cx="2720000" cy="23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6B21A8"/>
                </a:solidFill>
              </a:rPr>
              <a:t>ANN  ★  Best Model</a:t>
            </a:r>
          </a:p>
        </p:txBody>
      </p:sp>
      <p:sp>
        <p:nvSpPr>
          <p:cNvPr id="13" name="MetB0"/>
          <p:cNvSpPr/>
          <p:nvPr/>
        </p:nvSpPr>
        <p:spPr>
          <a:xfrm>
            <a:off x="270000" y="3871173"/>
            <a:ext cx="2720000" cy="21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7377"/>
                </a:solidFill>
              </a:rPr>
              <a:t>R²=0.9967 | MAE=19.20 kW | RMSE=25.45 kW | Acc=95.28% | F1=0.9234</a:t>
            </a:r>
          </a:p>
        </p:txBody>
      </p:sp>
      <p:sp>
        <p:nvSpPr>
          <p:cNvPr id="14" name="DetB0"/>
          <p:cNvSpPr/>
          <p:nvPr/>
        </p:nvSpPr>
        <p:spPr>
          <a:xfrm>
            <a:off x="270000" y="4132737"/>
            <a:ext cx="2720000" cy="80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marL="0" indent="0" algn="l">
              <a:buNone/>
            </a:pPr>
            <a:r>
              <a:rPr lang="en-US" sz="1000" b="0" dirty="0"/>
              <a:t>• Tightest fit across all 7 models.</a:t>
            </a:r>
          </a:p>
          <a:p>
            <a:pPr marL="0" indent="0" algn="l">
              <a:buNone/>
            </a:pPr>
            <a:r>
              <a:rPr lang="en-US" sz="1000" b="0" dirty="0"/>
              <a:t>• Points hug y=x from 0 to 1400 kW.</a:t>
            </a:r>
          </a:p>
          <a:p>
            <a:pPr marL="0" indent="0" algn="l">
              <a:buNone/>
            </a:pPr>
            <a:r>
              <a:rPr lang="en-US" sz="1000" b="0" dirty="0"/>
              <a:t>• BatchNorm + Dropout(0.2) stabilize training.</a:t>
            </a:r>
          </a:p>
          <a:p>
            <a:pPr marL="0" indent="0" algn="l">
              <a:buNone/>
            </a:pPr>
            <a:r>
              <a:rPr lang="en-US" sz="1000" b="0" dirty="0"/>
              <a:t>• Best in all regression &amp; classification metrics.</a:t>
            </a:r>
          </a:p>
        </p:txBody>
      </p:sp>
      <p:sp>
        <p:nvSpPr>
          <p:cNvPr id="15" name="CardB1"/>
          <p:cNvSpPr/>
          <p:nvPr/>
        </p:nvSpPr>
        <p:spPr>
          <a:xfrm>
            <a:off x="3160000" y="1010000"/>
            <a:ext cx="2820000" cy="39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ImgB1" descr="scatter_lst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000" y="1040000"/>
            <a:ext cx="2720000" cy="2550000"/>
          </a:xfrm>
          <a:prstGeom prst="rect">
            <a:avLst/>
          </a:prstGeom>
        </p:spPr>
      </p:pic>
      <p:sp>
        <p:nvSpPr>
          <p:cNvPr id="17" name="NamB1"/>
          <p:cNvSpPr/>
          <p:nvPr/>
        </p:nvSpPr>
        <p:spPr>
          <a:xfrm>
            <a:off x="3210000" y="3600000"/>
            <a:ext cx="2720000" cy="23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E293B"/>
                </a:solidFill>
              </a:rPr>
              <a:t>LSTM</a:t>
            </a:r>
          </a:p>
        </p:txBody>
      </p:sp>
      <p:sp>
        <p:nvSpPr>
          <p:cNvPr id="18" name="MetB1"/>
          <p:cNvSpPr/>
          <p:nvPr/>
        </p:nvSpPr>
        <p:spPr>
          <a:xfrm>
            <a:off x="3210000" y="3871173"/>
            <a:ext cx="2720000" cy="21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7377"/>
                </a:solidFill>
              </a:rPr>
              <a:t>R²=0.9365 | MAE=84.20 kW | RMSE=95.92 kW | Acc=91.29% | F1=0.5427</a:t>
            </a:r>
          </a:p>
        </p:txBody>
      </p:sp>
      <p:sp>
        <p:nvSpPr>
          <p:cNvPr id="19" name="DetB1"/>
          <p:cNvSpPr/>
          <p:nvPr/>
        </p:nvSpPr>
        <p:spPr>
          <a:xfrm>
            <a:off x="3210000" y="4132737"/>
            <a:ext cx="2720000" cy="80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marL="0" indent="0" algn="l">
              <a:buNone/>
            </a:pPr>
            <a:r>
              <a:rPr lang="en-US" sz="1000" b="0" dirty="0"/>
              <a:t>• Diagonal trend with visible vertical spread.</a:t>
            </a:r>
          </a:p>
          <a:p>
            <a:pPr marL="0" indent="0" algn="l">
              <a:buNone/>
            </a:pPr>
            <a:r>
              <a:rPr lang="en-US" sz="1000" b="0" dirty="0"/>
              <a:t>• Used per-vehicle sequences (W=5, MinMaxScaler).</a:t>
            </a:r>
          </a:p>
          <a:p>
            <a:pPr marL="0" indent="0" algn="l">
              <a:buNone/>
            </a:pPr>
            <a:r>
              <a:rPr lang="en-US" sz="1000" b="0" dirty="0"/>
              <a:t>• Different input vs ANN drives higher error.</a:t>
            </a:r>
          </a:p>
          <a:p>
            <a:pPr marL="0" indent="0" algn="l">
              <a:buNone/>
            </a:pPr>
            <a:r>
              <a:rPr lang="en-US" sz="1000" b="0" dirty="0"/>
              <a:t>• EarlyStopping (patience=5) applied in training.</a:t>
            </a:r>
          </a:p>
        </p:txBody>
      </p:sp>
      <p:sp>
        <p:nvSpPr>
          <p:cNvPr id="20" name="CardB2"/>
          <p:cNvSpPr/>
          <p:nvPr/>
        </p:nvSpPr>
        <p:spPr>
          <a:xfrm>
            <a:off x="6100000" y="1010000"/>
            <a:ext cx="2820000" cy="39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gB2" descr="scatter_gr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000" y="1040000"/>
            <a:ext cx="2720000" cy="2550000"/>
          </a:xfrm>
          <a:prstGeom prst="rect">
            <a:avLst/>
          </a:prstGeom>
        </p:spPr>
      </p:pic>
      <p:sp>
        <p:nvSpPr>
          <p:cNvPr id="22" name="NamB2"/>
          <p:cNvSpPr/>
          <p:nvPr/>
        </p:nvSpPr>
        <p:spPr>
          <a:xfrm>
            <a:off x="6150000" y="3600000"/>
            <a:ext cx="2720000" cy="23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E293B"/>
                </a:solidFill>
              </a:rPr>
              <a:t>GRU</a:t>
            </a:r>
          </a:p>
        </p:txBody>
      </p:sp>
      <p:sp>
        <p:nvSpPr>
          <p:cNvPr id="23" name="MetB2"/>
          <p:cNvSpPr/>
          <p:nvPr/>
        </p:nvSpPr>
        <p:spPr>
          <a:xfrm>
            <a:off x="6150000" y="3871173"/>
            <a:ext cx="2720000" cy="21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7377"/>
                </a:solidFill>
              </a:rPr>
              <a:t>R²=0.9444 | MAE=81.45 kW | RMSE=89.50 kW | Acc=90.76% | F1=0.5723</a:t>
            </a:r>
          </a:p>
        </p:txBody>
      </p:sp>
      <p:sp>
        <p:nvSpPr>
          <p:cNvPr id="24" name="DetB2"/>
          <p:cNvSpPr/>
          <p:nvPr/>
        </p:nvSpPr>
        <p:spPr>
          <a:xfrm>
            <a:off x="6150000" y="4132737"/>
            <a:ext cx="2720000" cy="800000"/>
          </a:xfrm>
          <a:prstGeom prst="rect">
            <a:avLst/>
          </a:prstGeom>
          <a:noFill/>
          <a:ln/>
        </p:spPr>
        <p:txBody>
          <a:bodyPr wrap="square" lIns="45720" tIns="36576" rIns="45720" bIns="36576" rtlCol="0" anchor="t"/>
          <a:lstStyle/>
          <a:p>
            <a:pPr marL="0" indent="0" algn="l">
              <a:buNone/>
            </a:pPr>
            <a:r>
              <a:rPr lang="en-US" sz="1000" b="0" dirty="0"/>
              <a:t>• Mirrors LSTM; slightly tighter in mid-range.</a:t>
            </a:r>
          </a:p>
          <a:p>
            <a:pPr marL="0" indent="0" algn="l">
              <a:buNone/>
            </a:pPr>
            <a:r>
              <a:rPr lang="en-US" sz="1000" b="0" dirty="0"/>
              <a:t>• Gated architecture gives marginal gain over LSTM.</a:t>
            </a:r>
          </a:p>
          <a:p>
            <a:pPr marL="0" indent="0" algn="l">
              <a:buNone/>
            </a:pPr>
            <a:r>
              <a:rPr lang="en-US" sz="1000" b="0" dirty="0"/>
              <a:t>• Same per-vehicle sequence input (W=5).</a:t>
            </a:r>
          </a:p>
          <a:p>
            <a:pPr marL="0" indent="0" algn="l">
              <a:buNone/>
            </a:pPr>
            <a:r>
              <a:rPr lang="en-US" sz="1000" b="0" dirty="0"/>
              <a:t>• Best recurrent model among the two.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Load — All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202996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52144"/>
            <a:ext cx="1938528" cy="1389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560320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Linear Regression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2752344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</a:rPr>
              <a:t>R²=0.9946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96312" y="1115568"/>
            <a:ext cx="202996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42032" y="1152144"/>
            <a:ext cx="1938528" cy="1389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42032" y="2560320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Decision Tree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2542032" y="2752344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</a:rPr>
              <a:t>R²=0.9904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72584" y="1115568"/>
            <a:ext cx="202996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18304" y="1152144"/>
            <a:ext cx="1938528" cy="1389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18304" y="2560320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Random Forest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4718304" y="2752344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</a:rPr>
              <a:t>R²=0.9878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848856" y="1115568"/>
            <a:ext cx="202996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94576" y="1152144"/>
            <a:ext cx="1938528" cy="13898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94576" y="2560320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XGBoost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6894576" y="2752344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</a:rPr>
              <a:t>R²=0.9854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20040" y="3108960"/>
            <a:ext cx="202996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5760" y="3145536"/>
            <a:ext cx="1938528" cy="13898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65760" y="455371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ANN ★ Best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365760" y="474573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</a:rPr>
              <a:t>R²=0.9967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2496312" y="3108960"/>
            <a:ext cx="202996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542032" y="3145536"/>
            <a:ext cx="1938528" cy="13898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542032" y="455371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LSTM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2542032" y="474573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</a:rPr>
              <a:t>R²=0.9365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672584" y="3108960"/>
            <a:ext cx="202996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18304" y="3145536"/>
            <a:ext cx="1938528" cy="13898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718304" y="455371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GRU</a:t>
            </a:r>
            <a:endParaRPr lang="en-US" sz="950" dirty="0"/>
          </a:p>
        </p:txBody>
      </p:sp>
      <p:sp>
        <p:nvSpPr>
          <p:cNvPr id="32" name="Text 23"/>
          <p:cNvSpPr/>
          <p:nvPr/>
        </p:nvSpPr>
        <p:spPr>
          <a:xfrm>
            <a:off x="4718304" y="474573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</a:rPr>
              <a:t>R²=0.9444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</a:rPr>
              <a:t>Model Performance Comparison</a:t>
            </a:r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</a:rPr>
              <a:t>Error Metrics: MAE, MSE, RMSE, MAPE  (lower is better)</a:t>
            </a:r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42416"/>
            <a:ext cx="4069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133856"/>
            <a:ext cx="3886200" cy="2560320"/>
          </a:xfrm>
          <a:prstGeom prst="rect">
            <a:avLst/>
          </a:prstGeom>
        </p:spPr>
      </p:pic>
      <p:sp>
        <p:nvSpPr>
          <p:cNvPr id="8" name="Text 8"/>
          <p:cNvSpPr/>
          <p:nvPr/>
        </p:nvSpPr>
        <p:spPr>
          <a:xfrm>
            <a:off x="320040" y="378561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</a:rPr>
              <a:t>MAE &amp; MSE</a:t>
            </a:r>
          </a:p>
        </p:txBody>
      </p:sp>
      <p:sp>
        <p:nvSpPr>
          <p:cNvPr id="9" name="Shape 5"/>
          <p:cNvSpPr/>
          <p:nvPr/>
        </p:nvSpPr>
        <p:spPr>
          <a:xfrm>
            <a:off x="4754880" y="1042416"/>
            <a:ext cx="4069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133856"/>
            <a:ext cx="3886200" cy="256032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4754880" y="378561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</a:rPr>
              <a:t>RMSE &amp; MAPE</a:t>
            </a:r>
          </a:p>
        </p:txBody>
      </p:sp>
      <p:sp>
        <p:nvSpPr>
          <p:cNvPr id="12" name="Shape 6"/>
          <p:cNvSpPr/>
          <p:nvPr/>
        </p:nvSpPr>
        <p:spPr>
          <a:xfrm>
            <a:off x="320040" y="4041648"/>
            <a:ext cx="8503920" cy="914400"/>
          </a:xfrm>
          <a:prstGeom prst="rect">
            <a:avLst/>
          </a:prstGeom>
          <a:solidFill>
            <a:srgbClr val="EBF4F5"/>
          </a:solidFill>
          <a:ln w="19050">
            <a:solidFill>
              <a:srgbClr val="0D7377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</a:rPr>
              <a:t>Key Insight: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ANN achieves the lowest error across all metrics (MAE=19.2 kW, RMSE=25.5 kW, MAPE=4.72%). Linear Regression ranks 2nd (MAE=25.7 kW), outperforming tree-based ensembles. LSTM and GRU show the highest errors due to their sequential input format.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</a:rPr>
              <a:t>Model Performance Comparison</a:t>
            </a:r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</a:rPr>
              <a:t>Fit &amp; Classification Metrics: R² Score, Accuracy, Weighted F1-Score  (higher is better)</a:t>
            </a:r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42416"/>
            <a:ext cx="4069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1480" y="1133856"/>
            <a:ext cx="3886200" cy="2560320"/>
          </a:xfrm>
          <a:prstGeom prst="rect">
            <a:avLst/>
          </a:prstGeom>
        </p:spPr>
      </p:pic>
      <p:sp>
        <p:nvSpPr>
          <p:cNvPr id="8" name="Text 10"/>
          <p:cNvSpPr/>
          <p:nvPr/>
        </p:nvSpPr>
        <p:spPr>
          <a:xfrm>
            <a:off x="320040" y="378561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</a:rPr>
              <a:t>R² Score</a:t>
            </a:r>
          </a:p>
        </p:txBody>
      </p:sp>
      <p:sp>
        <p:nvSpPr>
          <p:cNvPr id="9" name="Shape 5"/>
          <p:cNvSpPr/>
          <p:nvPr/>
        </p:nvSpPr>
        <p:spPr>
          <a:xfrm>
            <a:off x="4754880" y="1042416"/>
            <a:ext cx="4069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1133856"/>
            <a:ext cx="3886200" cy="2560320"/>
          </a:xfrm>
          <a:prstGeom prst="rect">
            <a:avLst/>
          </a:prstGeom>
        </p:spPr>
      </p:pic>
      <p:sp>
        <p:nvSpPr>
          <p:cNvPr id="11" name="Text 11"/>
          <p:cNvSpPr/>
          <p:nvPr/>
        </p:nvSpPr>
        <p:spPr>
          <a:xfrm>
            <a:off x="4754880" y="378561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</a:rPr>
              <a:t>Accuracy &amp; F1-Score</a:t>
            </a:r>
          </a:p>
        </p:txBody>
      </p:sp>
      <p:sp>
        <p:nvSpPr>
          <p:cNvPr id="12" name="Shape 6"/>
          <p:cNvSpPr/>
          <p:nvPr/>
        </p:nvSpPr>
        <p:spPr>
          <a:xfrm>
            <a:off x="320040" y="4041648"/>
            <a:ext cx="8503920" cy="914400"/>
          </a:xfrm>
          <a:prstGeom prst="rect">
            <a:avLst/>
          </a:prstGeom>
          <a:solidFill>
            <a:srgbClr val="EBF4F5"/>
          </a:solidFill>
          <a:ln w="19050">
            <a:solidFill>
              <a:srgbClr val="0D7377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</a:rPr>
              <a:t>Key Insight: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ANN leads with R²=0.9967, Accuracy=95.28%, and F1=0.9234 — best across all fit and classification metrics. All models achieve R² above 0.93. LSTM and GRU show notably lower F1-Scores (0.54 / 0.57), indicating weaker load-category discrimination compared to non-sequential models.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 (All Metrics)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MSE, RMSE, MAPE, R², Accuracy, F1-Score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170432"/>
            <a:ext cx="3977640" cy="17190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11556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170432"/>
            <a:ext cx="3977640" cy="17190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309067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1480" y="3145536"/>
            <a:ext cx="3977640" cy="171907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663440" y="309067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54880" y="3145536"/>
            <a:ext cx="3977640" cy="17190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20040" y="2913195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3A6B"/>
                </a:solidFill>
              </a:rPr>
              <a:t>MAE &amp; MSE</a:t>
            </a:r>
          </a:p>
        </p:txBody>
      </p:sp>
      <p:sp>
        <p:nvSpPr>
          <p:cNvPr id="15" name="Text 9"/>
          <p:cNvSpPr/>
          <p:nvPr/>
        </p:nvSpPr>
        <p:spPr>
          <a:xfrm>
            <a:off x="4663440" y="2913195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3A6B"/>
                </a:solidFill>
              </a:rPr>
              <a:t>RMSE &amp; MAPE</a:t>
            </a:r>
          </a:p>
        </p:txBody>
      </p:sp>
      <p:sp>
        <p:nvSpPr>
          <p:cNvPr id="16" name="Text 10"/>
          <p:cNvSpPr/>
          <p:nvPr/>
        </p:nvSpPr>
        <p:spPr>
          <a:xfrm>
            <a:off x="320040" y="4898275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3A6B"/>
                </a:solidFill>
              </a:rPr>
              <a:t>R² Score</a:t>
            </a:r>
          </a:p>
        </p:txBody>
      </p:sp>
      <p:sp>
        <p:nvSpPr>
          <p:cNvPr id="17" name="Text 11"/>
          <p:cNvSpPr/>
          <p:nvPr/>
        </p:nvSpPr>
        <p:spPr>
          <a:xfrm>
            <a:off x="4663440" y="4898275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3A6B"/>
                </a:solidFill>
              </a:rPr>
              <a:t>Accuracy &amp; F1-Score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Results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— System Load Prediction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224830"/>
              </p:ext>
            </p:extLst>
          </p:nvPr>
        </p:nvGraphicFramePr>
        <p:xfrm>
          <a:off x="320039" y="1115568"/>
          <a:ext cx="8503921" cy="3803904"/>
        </p:xfrm>
        <a:graphic>
          <a:graphicData uri="http://schemas.openxmlformats.org/drawingml/2006/table">
            <a:tbl>
              <a:tblPr/>
              <a:tblGrid>
                <a:gridCol w="1719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54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99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54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4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(kW)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(kW)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F1-Wtd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1896.7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2864.3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647.9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9200.6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8028.4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91947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3483"/>
                </a:solidFill>
              </a:rPr>
              <a:t>★ ANN achieves best performance across all key metrics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Implications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251960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99032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Outperforms All Models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673352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R²=0.9967, MAE=19.2 kW, Acc=95.28% — best precision for EV load forecasting in this simulated environment.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3977640" cy="2011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399032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Relationships Dominate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673352"/>
            <a:ext cx="3867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achieved R²=0.9946, outperforming tree-based ensembles — confirming strong linear structure in the charging load data.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404872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04872"/>
            <a:ext cx="4251960" cy="20116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660904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Models Underperform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2935224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LSTM/GRU showed highest errors (MAE ~82–84 kW), suggesting instantaneous features carry more information than temporal sequences at this scale.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404872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404872"/>
            <a:ext cx="3977640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660904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Predictors Identified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2935224"/>
            <a:ext cx="3867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system_charging_vehicles, timestep_sec, and system_total_vehicles dominate load prediction; individual vehicle features contribute minimally.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666744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666744"/>
            <a:ext cx="4251960" cy="201168"/>
          </a:xfrm>
          <a:prstGeom prst="rect">
            <a:avLst/>
          </a:prstGeom>
          <a:solidFill>
            <a:srgbClr val="186A3E"/>
          </a:solidFill>
          <a:ln w="12700">
            <a:solidFill>
              <a:srgbClr val="186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922776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Charging Reduces Peaks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4197096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1,169 charging recommendations distributed load across stations, reducing bottlenecks and improving dataset realism for ML training.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666744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666744"/>
            <a:ext cx="3977640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922776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as Digital Twin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4197096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SUMO-based synthetic dataset generation is effective for developing countries where real EV charging data is scarce or unavailable.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Recommendations for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15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54864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Simulation-only dataset — real-world stochastic behavior not fully captured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25856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58568"/>
            <a:ext cx="54864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22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electricity tariff &amp; driver behavior not modeled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0837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008376"/>
            <a:ext cx="54864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723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infrastructure (no station failures or capacity changes)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75818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758184"/>
            <a:ext cx="54864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22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600-second window limits temporal generalization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115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636776"/>
            <a:ext cx="274320" cy="2743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93208" y="1581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93208" y="1837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IoT sensors at actual charging stations in Khulna/Jashore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350008"/>
            <a:ext cx="274320" cy="2743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93208" y="2295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Deep Learning (CNN-LSTM)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93208" y="2551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spatial + multi-scale temporal dependencies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063240"/>
            <a:ext cx="274320" cy="2743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93208" y="3008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93208" y="3264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station assignment &amp; autonomous load balancing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776472"/>
            <a:ext cx="274320" cy="2743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93208" y="3721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Integration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93208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solar-powered stations with energy storage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4489704"/>
            <a:ext cx="274320" cy="2743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4489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93208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Simulation Environment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93208" y="4690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full-city scale with diverse vehicle types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777240"/>
            <a:ext cx="4572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1462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969264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SUMO-based EV simulation modeled Bangladesh's urban mobility (Easy Bikes, E-Rickshaws, E-Vans) with realistic charging infrastructure.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13254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91056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34,020 records across 25 features generated — ready for ML-based system-level load prediction.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35046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1284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latin typeface="Calibri" pitchFamily="34" charset="0"/>
                <a:ea typeface="Calibri" pitchFamily="34" charset="-122"/>
                <a:cs typeface="Calibri" pitchFamily="34" charset="-120"/>
              </a:rPr>
              <a:t>ANN achieved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precision: R²=0.9967, MAE=19.2 kW, Accuracy=95.28%, F1=0.9234.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56838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34640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also excelled (R²=0.9946), confirming linear structure in EV charging load demand.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78630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56432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SUMO simulation serves as an effective digital twin for generating EV datasets in data-scarce developing regions.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200422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078224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"Monitor–Predict–Control" framework provides a practical path to smart grid integration in cities like Khulna.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0982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311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86832" y="33741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86000" y="3154680"/>
            <a:ext cx="4572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7FA8"/>
                </a:solidFill>
              </a:rPr>
              <a:t>EV Charging Load Demand Prediction Using ML in a SUMO-Based Simulation Environment</a:t>
            </a:r>
            <a:endParaRPr lang="en-US" sz="950" dirty="0"/>
          </a:p>
        </p:txBody>
      </p:sp>
      <p:pic>
        <p:nvPicPr>
          <p:cNvPr id="17" name="object 4">
            <a:extLst>
              <a:ext uri="{FF2B5EF4-FFF2-40B4-BE49-F238E27FC236}">
                <a16:creationId xmlns:a16="http://schemas.microsoft.com/office/drawing/2014/main" id="{21A19648-DB8F-F3BA-95F6-E96997741EB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7198" y="781295"/>
            <a:ext cx="1173232" cy="11938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2911</Words>
  <Application>Microsoft Office PowerPoint</Application>
  <PresentationFormat>On-screen Show (16:9)</PresentationFormat>
  <Paragraphs>615</Paragraphs>
  <Slides>27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Charging Load Prediction – Thesis Defense</dc:title>
  <dc:subject>PptxGenJS Presentation</dc:subject>
  <dc:creator>PptxGenJS</dc:creator>
  <cp:lastModifiedBy>Rakesh Biswas</cp:lastModifiedBy>
  <cp:revision>55</cp:revision>
  <dcterms:created xsi:type="dcterms:W3CDTF">2026-04-24T04:43:45Z</dcterms:created>
  <dcterms:modified xsi:type="dcterms:W3CDTF">2026-06-26T16:16:55Z</dcterms:modified>
</cp:coreProperties>
</file>