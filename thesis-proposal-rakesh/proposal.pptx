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lear Sans Regular" charset="1" panose="020B0503030202020304"/>
      <p:regular r:id="rId19"/>
    </p:embeddedFont>
    <p:embeddedFont>
      <p:font typeface="Brice RegularSemiExpanded" charset="1" panose="00000000000000000000"/>
      <p:regular r:id="rId20"/>
    </p:embeddedFont>
    <p:embeddedFont>
      <p:font typeface="Times New Roman Bold" charset="1" panose="02030802070405020303"/>
      <p:regular r:id="rId21"/>
    </p:embeddedFont>
    <p:embeddedFont>
      <p:font typeface="Times New Roman" charset="1" panose="02030502070405020303"/>
      <p:regular r:id="rId22"/>
    </p:embeddedFont>
    <p:embeddedFont>
      <p:font typeface="Arimo" charset="1" panose="020B0604020202020204"/>
      <p:regular r:id="rId23"/>
    </p:embeddedFont>
    <p:embeddedFont>
      <p:font typeface="Clear Sans Regular Bold" charset="1" panose="020B060303020202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525" y="0"/>
            <a:ext cx="18288000" cy="6669278"/>
          </a:xfrm>
          <a:prstGeom prst="rect">
            <a:avLst/>
          </a:prstGeom>
          <a:solidFill>
            <a:srgbClr val="176BFD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1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93640" y="1261364"/>
            <a:ext cx="12550254" cy="408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Predictive Modeling of Battery Powered Vehicles (BPVs) Charging Load on the Power Grid: A Machine Learning Approach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579521" y="2798231"/>
          <a:ext cx="13128957" cy="6610350"/>
        </p:xfrm>
        <a:graphic>
          <a:graphicData uri="http://schemas.openxmlformats.org/drawingml/2006/table">
            <a:tbl>
              <a:tblPr/>
              <a:tblGrid>
                <a:gridCol w="6297016"/>
                <a:gridCol w="6831941"/>
              </a:tblGrid>
              <a:tr h="1044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Supervised By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Submitted by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61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Monishanker Halder </a:t>
                      </a: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 </a:t>
                      </a:r>
                      <a:endParaRPr lang="en-US" sz="1100"/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Assistant Professor </a:t>
                      </a: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 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 of Computer Science and Engineering </a:t>
                      </a: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 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Jashore University of Science and Technology</a:t>
                      </a:r>
                      <a:r>
                        <a:rPr lang="en-US" sz="3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 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Rakesh Biswas  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ID: 200112  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4th Year, 1st Semester  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Session: 2020–21  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 of Computer Science and Engineering  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Jashore University of Science and Technology 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717442"/>
            <a:ext cx="12550254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Thesis Proposal submission info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525" y="0"/>
            <a:ext cx="18288000" cy="4451582"/>
          </a:xfrm>
          <a:prstGeom prst="rect">
            <a:avLst/>
          </a:prstGeom>
          <a:solidFill>
            <a:srgbClr val="176BFD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3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381241"/>
            <a:ext cx="16230600" cy="163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1. Motivation, Existing Systems &amp; Research Gaps 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717442"/>
            <a:ext cx="16230600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1 . 1 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8238" y="2858831"/>
            <a:ext cx="17031524" cy="686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128" indent="-381064" lvl="1">
              <a:lnSpc>
                <a:spcPts val="4942"/>
              </a:lnSpc>
              <a:buFont typeface="Arial"/>
              <a:buChar char="•"/>
            </a:pP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Powered Vehicles (BPVs) are becoming a central component of global efforts toward sustainable transportation.</a:t>
            </a:r>
          </a:p>
          <a:p>
            <a:pPr algn="l" marL="762128" indent="-381064" lvl="1">
              <a:lnSpc>
                <a:spcPts val="4942"/>
              </a:lnSpc>
              <a:buFont typeface="Arial"/>
              <a:buChar char="•"/>
            </a:pP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Bangladesh, particularly in expanding cities, the adoption rate of BPVs is rising rapidly.</a:t>
            </a:r>
          </a:p>
          <a:p>
            <a:pPr algn="l" marL="762128" indent="-381064" lvl="1">
              <a:lnSpc>
                <a:spcPts val="4942"/>
              </a:lnSpc>
              <a:buFont typeface="Arial"/>
              <a:buChar char="•"/>
            </a:pP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growing adoption is contributing to increased electricity demand, especially from BPV charging.</a:t>
            </a:r>
          </a:p>
          <a:p>
            <a:pPr algn="l" marL="762128" indent="-381064" lvl="1">
              <a:lnSpc>
                <a:spcPts val="4942"/>
              </a:lnSpc>
              <a:buFont typeface="Arial"/>
              <a:buChar char="•"/>
            </a:pP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forecasting of BPV charging load is essential for:    </a:t>
            </a:r>
          </a:p>
          <a:p>
            <a:pPr algn="l">
              <a:lnSpc>
                <a:spcPts val="4942"/>
              </a:lnSpc>
            </a:pP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- </a:t>
            </a: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Ensuring grid stability</a:t>
            </a:r>
          </a:p>
          <a:p>
            <a:pPr algn="l">
              <a:lnSpc>
                <a:spcPts val="4942"/>
              </a:lnSpc>
            </a:pP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- Avoiding overloading or underutilization of power supply</a:t>
            </a:r>
          </a:p>
          <a:p>
            <a:pPr algn="l">
              <a:lnSpc>
                <a:spcPts val="4942"/>
              </a:lnSpc>
            </a:pP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- Preventing power imbalances and system stress</a:t>
            </a:r>
          </a:p>
          <a:p>
            <a:pPr algn="l">
              <a:lnSpc>
                <a:spcPts val="4942"/>
              </a:lnSpc>
            </a:pPr>
            <a:r>
              <a:rPr lang="en-US" sz="3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- Promoting efficient energy planning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14350" y="3266261"/>
            <a:ext cx="17031524" cy="515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thout predictive models, utilities may misjudge supply needs, leading to: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-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Inefficiencies in generation and distribution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- Higher operational costs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- This research proposes a machine learning-based model to forecast BPV charging load at the city level.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- The objective is to provide decision-makers with data-driven tools for smart power grid management.</a:t>
            </a:r>
          </a:p>
          <a:p>
            <a:pPr algn="l">
              <a:lnSpc>
                <a:spcPts val="504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5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717442"/>
            <a:ext cx="16230600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1 . 1 Motivation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03578" y="2346285"/>
          <a:ext cx="16880844" cy="7778116"/>
        </p:xfrm>
        <a:graphic>
          <a:graphicData uri="http://schemas.openxmlformats.org/drawingml/2006/table">
            <a:tbl>
              <a:tblPr/>
              <a:tblGrid>
                <a:gridCol w="1985964"/>
                <a:gridCol w="2527709"/>
                <a:gridCol w="4192850"/>
                <a:gridCol w="4227669"/>
                <a:gridCol w="3946651"/>
              </a:tblGrid>
              <a:tr h="13649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Existing Systems/Methods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Research Gaps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Key Contributions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35990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Vulfovich et al. (2021)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Simulation Modelling Practice and Theory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Quartile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:Q1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Impact Factor: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4.719 (2022)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Modified First Harmonic Approximation (MFHA) modeling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SN-compensated inductive power transfer links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Load-independent-voltage-output frequency systems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Focused on component-level analysis rather than system-level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scalability for grid integration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Insufficient consideration of multiple charging scenarios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Advanced modeling of power transfer links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Load-independent voltage output techniques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Simulation frameworks for inductive charging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41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Schreiber &amp; Ulbig (2023)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Energy and AI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Quartile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:Q1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Impact Factor: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7.762 (2022)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Model selection, adaptation, and combination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Transfer learning for renewable forecasts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Wind and PV power prediction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Focus on generation rather than load prediction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application to BPV charging load profiles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Insufficient integration of charging behavior patterns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Transfer learning techniques for power systems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Model adaptation methodologies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Renewable energy integration framework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717442"/>
            <a:ext cx="16230600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1 . 2 Existing Systems &amp; Research Gaps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7452" y="2402037"/>
          <a:ext cx="17383967" cy="7702936"/>
        </p:xfrm>
        <a:graphic>
          <a:graphicData uri="http://schemas.openxmlformats.org/drawingml/2006/table">
            <a:tbl>
              <a:tblPr/>
              <a:tblGrid>
                <a:gridCol w="2007503"/>
                <a:gridCol w="2555124"/>
                <a:gridCol w="4238324"/>
                <a:gridCol w="4273521"/>
                <a:gridCol w="4309496"/>
              </a:tblGrid>
              <a:tr h="8311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4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Existing Systems/Methods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Research Gaps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Key Contributions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22399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Yaprakd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 (2023)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Energies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Quartile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:Q1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Impact Factor: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3.252 (2022)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Ensemble deep learning for hour-ahead load forecasting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Feature selection approach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Comparative analysis with state-of-the-art methods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Not specifically focused on BPV charging loads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temporal resolution (hour-ahead only)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Lack of spatial distribution consideration in grid impact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Novel ensemble deep learning architecture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Effective feature selection methodology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Comparative benchmarking of forecasting models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19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Klausmann et al. (2023)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Energy and AI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Quartile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:Q1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Impact Factor: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3.252 (2022)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Ensemble deep learning for hour-ahead load forecasting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Feature selection approach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Comparative analysis with state-of-the-art methods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Not specifically focused on BPV charging loads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temporal resolution (hour-ahead only)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Lack of spatial distribution consideration in grid impact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Novel ensemble deep learning architecture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Effective feature selection methodology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Comparative benchmarking of forecasting models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etc.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99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espo &amp; Aliberti (2024)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Journal: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Engineering Applications of Artificial Intelligence</a:t>
                      </a: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Quartile:Q1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Impact Factor:</a:t>
                      </a: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8.036  (2022)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Comparative analysis of ML techniques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Short-term grid power forecasting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Uncertainty analysis for wave energy converters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Focus on wave energy rather than BPV charging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consideration of charging behavior variability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Insufficient integration with charging infrastructure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 ML comparison framework for power forecasting</a:t>
                      </a:r>
                      <a:endParaRPr lang="en-US" sz="1100"/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 Uncertainty quantification techniques</a:t>
                      </a:r>
                    </a:p>
                    <a:p>
                      <a:pPr algn="l">
                        <a:lnSpc>
                          <a:spcPts val="2394"/>
                        </a:lnSpc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 Short-term grid power prediction methods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7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717442"/>
            <a:ext cx="16230600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1 . 2 Existing Systems &amp; Research Gaps 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717442"/>
            <a:ext cx="12550254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2. Objectives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2996" y="2719790"/>
            <a:ext cx="15042009" cy="515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 a machine learning model to forecast BPV charging load in Bangladeshi cities ( Specially in Khulna, Jashore etc ). 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a combination of synthetic datasets (traffic, temperature, trip patterns).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performance of various models: Linear Regression, Random Forest, XGBoost, LSTM, Quantile LSTM . . . etc . 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Simulate different demand scenarios (rush hours, weekends, seasons). 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(Optional) Visualize predictions and usage patterns .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8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9525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9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717442"/>
            <a:ext cx="12550254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3.Technology / Tools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41494"/>
            <a:ext cx="16230600" cy="324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Languages/Platforms: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Python, Jupyter Notebook, Google Colab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Visualization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Matplotlib, Seaborn, OpenStreetMap (OSM)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Traffic Simulation: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SUMO (Simulation of Urban Mobility), TraCI framework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Communication Modeling: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OMNeT++ (for BPV-grid data exchange simulation)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Big Data Processing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KNIME (optional, for visual workflow and preprocessing)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399025" y="1218212"/>
            <a:ext cx="0" cy="9591922"/>
          </a:xfrm>
          <a:prstGeom prst="line">
            <a:avLst/>
          </a:prstGeom>
          <a:ln cap="rnd" w="19050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858900" y="1113437"/>
            <a:ext cx="0" cy="9874572"/>
          </a:xfrm>
          <a:prstGeom prst="line">
            <a:avLst/>
          </a:prstGeom>
          <a:ln cap="rnd" w="19050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400000">
            <a:off x="10831646" y="7034270"/>
            <a:ext cx="7542205" cy="0"/>
          </a:xfrm>
          <a:prstGeom prst="line">
            <a:avLst/>
          </a:prstGeom>
          <a:ln cap="rnd" w="9525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449362" y="2330816"/>
            <a:ext cx="18780128" cy="0"/>
          </a:xfrm>
          <a:prstGeom prst="line">
            <a:avLst/>
          </a:prstGeom>
          <a:ln cap="rnd" w="47625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855957" y="4528319"/>
            <a:ext cx="19186724" cy="0"/>
          </a:xfrm>
          <a:prstGeom prst="line">
            <a:avLst/>
          </a:prstGeom>
          <a:ln cap="rnd" w="47625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378427" y="2545337"/>
            <a:ext cx="1570770" cy="700234"/>
            <a:chOff x="0" y="0"/>
            <a:chExt cx="4259655" cy="18989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59655" cy="1898914"/>
            </a:xfrm>
            <a:custGeom>
              <a:avLst/>
              <a:gdLst/>
              <a:ahLst/>
              <a:cxnLst/>
              <a:rect r="r" b="b" t="t" l="l"/>
              <a:pathLst>
                <a:path h="1898914" w="4259655">
                  <a:moveTo>
                    <a:pt x="4259655" y="949457"/>
                  </a:moveTo>
                  <a:cubicBezTo>
                    <a:pt x="4259655" y="1470416"/>
                    <a:pt x="3831284" y="1898914"/>
                    <a:pt x="3302710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3302710" y="0"/>
                  </a:lnTo>
                  <a:cubicBezTo>
                    <a:pt x="3831157" y="0"/>
                    <a:pt x="4259655" y="428371"/>
                    <a:pt x="4259655" y="949457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79638" y="5721426"/>
            <a:ext cx="3984360" cy="700234"/>
            <a:chOff x="0" y="0"/>
            <a:chExt cx="10804893" cy="18989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4893" cy="1898914"/>
            </a:xfrm>
            <a:custGeom>
              <a:avLst/>
              <a:gdLst/>
              <a:ahLst/>
              <a:cxnLst/>
              <a:rect r="r" b="b" t="t" l="l"/>
              <a:pathLst>
                <a:path h="1898914" w="10804893">
                  <a:moveTo>
                    <a:pt x="10804893" y="949457"/>
                  </a:moveTo>
                  <a:cubicBezTo>
                    <a:pt x="10804893" y="1470416"/>
                    <a:pt x="10376522" y="1898914"/>
                    <a:pt x="9847948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9847948" y="0"/>
                  </a:lnTo>
                  <a:cubicBezTo>
                    <a:pt x="10376395" y="0"/>
                    <a:pt x="10804893" y="428371"/>
                    <a:pt x="10804893" y="949457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86326" y="3661398"/>
            <a:ext cx="2434759" cy="700234"/>
            <a:chOff x="0" y="0"/>
            <a:chExt cx="6602643" cy="18989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2643" cy="1898914"/>
            </a:xfrm>
            <a:custGeom>
              <a:avLst/>
              <a:gdLst/>
              <a:ahLst/>
              <a:cxnLst/>
              <a:rect r="r" b="b" t="t" l="l"/>
              <a:pathLst>
                <a:path h="1898914" w="6602643">
                  <a:moveTo>
                    <a:pt x="6602643" y="949457"/>
                  </a:moveTo>
                  <a:cubicBezTo>
                    <a:pt x="6602643" y="1470416"/>
                    <a:pt x="6174272" y="1898914"/>
                    <a:pt x="5645698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645698" y="0"/>
                  </a:lnTo>
                  <a:cubicBezTo>
                    <a:pt x="6174145" y="0"/>
                    <a:pt x="6602643" y="428371"/>
                    <a:pt x="6602643" y="949457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73987" y="6802660"/>
            <a:ext cx="2416039" cy="700234"/>
            <a:chOff x="0" y="0"/>
            <a:chExt cx="6551879" cy="18989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51879" cy="1898914"/>
            </a:xfrm>
            <a:custGeom>
              <a:avLst/>
              <a:gdLst/>
              <a:ahLst/>
              <a:cxnLst/>
              <a:rect r="r" b="b" t="t" l="l"/>
              <a:pathLst>
                <a:path h="1898914" w="6551879">
                  <a:moveTo>
                    <a:pt x="6551879" y="949457"/>
                  </a:moveTo>
                  <a:cubicBezTo>
                    <a:pt x="6551879" y="1470416"/>
                    <a:pt x="6123508" y="1898914"/>
                    <a:pt x="5594934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5594934" y="0"/>
                  </a:lnTo>
                  <a:cubicBezTo>
                    <a:pt x="6123381" y="0"/>
                    <a:pt x="6551879" y="428371"/>
                    <a:pt x="6551879" y="949457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118179" y="8124962"/>
            <a:ext cx="3099384" cy="700234"/>
            <a:chOff x="0" y="0"/>
            <a:chExt cx="8404992" cy="18989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04992" cy="1898914"/>
            </a:xfrm>
            <a:custGeom>
              <a:avLst/>
              <a:gdLst/>
              <a:ahLst/>
              <a:cxnLst/>
              <a:rect r="r" b="b" t="t" l="l"/>
              <a:pathLst>
                <a:path h="1898914" w="8404992">
                  <a:moveTo>
                    <a:pt x="8404992" y="949457"/>
                  </a:moveTo>
                  <a:cubicBezTo>
                    <a:pt x="8404992" y="1470416"/>
                    <a:pt x="7976621" y="1898914"/>
                    <a:pt x="7448047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7448047" y="0"/>
                  </a:lnTo>
                  <a:cubicBezTo>
                    <a:pt x="7976494" y="0"/>
                    <a:pt x="8404992" y="428371"/>
                    <a:pt x="8404992" y="949457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</p:grpSp>
      <p:sp>
        <p:nvSpPr>
          <p:cNvPr name="AutoShape 17" id="17"/>
          <p:cNvSpPr/>
          <p:nvPr/>
        </p:nvSpPr>
        <p:spPr>
          <a:xfrm rot="0">
            <a:off x="0" y="0"/>
            <a:ext cx="18288000" cy="1218212"/>
          </a:xfrm>
          <a:prstGeom prst="rect">
            <a:avLst/>
          </a:prstGeom>
          <a:solidFill>
            <a:srgbClr val="176BFD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669786" y="2510545"/>
            <a:ext cx="2996371" cy="85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Li</a:t>
            </a: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terature Review &amp; Tool Setup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9786" y="3553680"/>
            <a:ext cx="4605893" cy="85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D</a:t>
            </a: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ata Collection &amp; Preprocessing (Traffic,Weather, EV)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5974" y="8115437"/>
            <a:ext cx="2996371" cy="85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Result Ev</a:t>
            </a: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aluation &amp; Reporting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18316" y="1638837"/>
            <a:ext cx="2021294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Mon</a:t>
            </a:r>
            <a:r>
              <a:rPr lang="en-US" b="true" sz="2799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th 1–3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72413" y="1638837"/>
            <a:ext cx="1962526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Mo</a:t>
            </a:r>
            <a:r>
              <a:rPr lang="en-US" b="true" sz="2799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nth 4–6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16088" y="1638837"/>
            <a:ext cx="191462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Mon</a:t>
            </a:r>
            <a:r>
              <a:rPr lang="en-US" b="true" sz="2799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th 7–9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18179" y="1638837"/>
            <a:ext cx="2347102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Mon</a:t>
            </a:r>
            <a:r>
              <a:rPr lang="en-US" b="true" sz="2799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th 10–12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4070" y="1564235"/>
            <a:ext cx="2377675" cy="51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3275" b="true">
                <a:solidFill>
                  <a:srgbClr val="050A30"/>
                </a:solidFill>
                <a:latin typeface="Clear Sans Regular Bold"/>
                <a:ea typeface="Clear Sans Regular Bold"/>
                <a:cs typeface="Clear Sans Regular Bold"/>
                <a:sym typeface="Clear Sans Regular Bold"/>
              </a:rPr>
              <a:t>Tasks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4070" y="300637"/>
            <a:ext cx="12550254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4.Time Line </a:t>
            </a:r>
          </a:p>
        </p:txBody>
      </p:sp>
      <p:sp>
        <p:nvSpPr>
          <p:cNvPr name="AutoShape 27" id="27"/>
          <p:cNvSpPr/>
          <p:nvPr/>
        </p:nvSpPr>
        <p:spPr>
          <a:xfrm>
            <a:off x="-898724" y="3482242"/>
            <a:ext cx="19186724" cy="0"/>
          </a:xfrm>
          <a:prstGeom prst="line">
            <a:avLst/>
          </a:prstGeom>
          <a:ln cap="rnd" w="47625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622161" y="4689585"/>
            <a:ext cx="4120656" cy="42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B</a:t>
            </a: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aseline Model Development </a:t>
            </a:r>
          </a:p>
        </p:txBody>
      </p:sp>
      <p:sp>
        <p:nvSpPr>
          <p:cNvPr name="AutoShape 29" id="29"/>
          <p:cNvSpPr/>
          <p:nvPr/>
        </p:nvSpPr>
        <p:spPr>
          <a:xfrm>
            <a:off x="-898724" y="5497588"/>
            <a:ext cx="19186724" cy="0"/>
          </a:xfrm>
          <a:prstGeom prst="line">
            <a:avLst/>
          </a:prstGeom>
          <a:ln cap="rnd" w="47625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645974" y="5673801"/>
            <a:ext cx="4653518" cy="42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Adv</a:t>
            </a: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anced Model + Optimization</a:t>
            </a:r>
          </a:p>
        </p:txBody>
      </p:sp>
      <p:sp>
        <p:nvSpPr>
          <p:cNvPr name="AutoShape 31" id="31"/>
          <p:cNvSpPr/>
          <p:nvPr/>
        </p:nvSpPr>
        <p:spPr>
          <a:xfrm>
            <a:off x="-898724" y="6540723"/>
            <a:ext cx="19186724" cy="0"/>
          </a:xfrm>
          <a:prstGeom prst="line">
            <a:avLst/>
          </a:prstGeom>
          <a:ln cap="rnd" w="47625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674070" y="6755035"/>
            <a:ext cx="3463403" cy="85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S</a:t>
            </a:r>
            <a:r>
              <a:rPr lang="en-US" sz="2451">
                <a:solidFill>
                  <a:srgbClr val="050A30"/>
                </a:solidFill>
                <a:latin typeface="Clear Sans Regular"/>
                <a:ea typeface="Clear Sans Regular"/>
                <a:cs typeface="Clear Sans Regular"/>
                <a:sym typeface="Clear Sans Regular"/>
              </a:rPr>
              <a:t>cenario Simulation &amp; Visualization </a:t>
            </a:r>
          </a:p>
        </p:txBody>
      </p:sp>
      <p:sp>
        <p:nvSpPr>
          <p:cNvPr name="AutoShape 33" id="33"/>
          <p:cNvSpPr/>
          <p:nvPr/>
        </p:nvSpPr>
        <p:spPr>
          <a:xfrm>
            <a:off x="-449362" y="7815400"/>
            <a:ext cx="19186724" cy="0"/>
          </a:xfrm>
          <a:prstGeom prst="line">
            <a:avLst/>
          </a:prstGeom>
          <a:ln cap="rnd" w="47625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144000" y="4662837"/>
            <a:ext cx="3099828" cy="700234"/>
            <a:chOff x="0" y="0"/>
            <a:chExt cx="8406197" cy="189891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06197" cy="1898914"/>
            </a:xfrm>
            <a:custGeom>
              <a:avLst/>
              <a:gdLst/>
              <a:ahLst/>
              <a:cxnLst/>
              <a:rect r="r" b="b" t="t" l="l"/>
              <a:pathLst>
                <a:path h="1898914" w="8406197">
                  <a:moveTo>
                    <a:pt x="8406197" y="949457"/>
                  </a:moveTo>
                  <a:cubicBezTo>
                    <a:pt x="8406197" y="1470416"/>
                    <a:pt x="7977825" y="1898914"/>
                    <a:pt x="7449252" y="1898914"/>
                  </a:cubicBezTo>
                  <a:lnTo>
                    <a:pt x="956945" y="1898914"/>
                  </a:lnTo>
                  <a:cubicBezTo>
                    <a:pt x="428371" y="1898914"/>
                    <a:pt x="0" y="1470416"/>
                    <a:pt x="0" y="949457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7449252" y="0"/>
                  </a:lnTo>
                  <a:cubicBezTo>
                    <a:pt x="7977699" y="0"/>
                    <a:pt x="8406197" y="428371"/>
                    <a:pt x="8406197" y="949457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</p:grpSp>
      <p:sp>
        <p:nvSpPr>
          <p:cNvPr name="AutoShape 36" id="36"/>
          <p:cNvSpPr/>
          <p:nvPr/>
        </p:nvSpPr>
        <p:spPr>
          <a:xfrm>
            <a:off x="11158851" y="1113437"/>
            <a:ext cx="0" cy="9959309"/>
          </a:xfrm>
          <a:prstGeom prst="line">
            <a:avLst/>
          </a:prstGeom>
          <a:ln cap="rnd" w="19050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4590949" y="1028700"/>
            <a:ext cx="0" cy="9959309"/>
          </a:xfrm>
          <a:prstGeom prst="line">
            <a:avLst/>
          </a:prstGeom>
          <a:ln cap="rnd" w="19050">
            <a:solidFill>
              <a:srgbClr val="176BFD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10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566756" y="9646219"/>
            <a:ext cx="4317504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400" spc="-7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Fig-1: Timeline of research working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9525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307867"/>
            <a:ext cx="15283640" cy="163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5. References (Selected Q1/Q2 Journals &amp; Papers)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4556" y="2420348"/>
            <a:ext cx="17130717" cy="616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1.</a:t>
            </a: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Klausmann et al. (2023)</a:t>
            </a: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Energies (Q1)  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control for battery storage with peak load limitation. [Citations: 11]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Yaprakdal (2023)</a:t>
            </a: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Energies (Q1)  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deep learning for hour-ahead load forecasting with feature selection. [Citations: 19]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</a:t>
            </a: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</a:t>
            </a: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Vulfovich et al. (2021)</a:t>
            </a: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Simulation Modelling Practice and Theory (Q1)  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Modified harmonic approximation modeling for inductive power transfer links. [Citations: 14]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b="true" sz="2499" strike="noStrike" u="none">
                <a:solidFill>
                  <a:srgbClr val="050A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Schreiber &amp; Ulbig (2023)</a:t>
            </a: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Energy and AI (Q1)  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 for renewable energy forecasting; a focus on generation. [Citations: 23]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b="true" sz="24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Crespo &amp; Aliberti (2024) </a:t>
            </a: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Engineering Applications of Artificial Intelligence (Q1)  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comparative study of machine learning for short-term grid forecasting with uncertainty analysis. [Citations: 9]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11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9525" y="0"/>
            <a:ext cx="18288000" cy="2136255"/>
          </a:xfrm>
          <a:prstGeom prst="rect">
            <a:avLst/>
          </a:prstGeom>
          <a:solidFill>
            <a:srgbClr val="176BFD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717442"/>
            <a:ext cx="15283640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5000" spc="-150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6.Suggestions / Any question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71489" y="4774061"/>
            <a:ext cx="8164290" cy="209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0"/>
              </a:lnSpc>
              <a:spcBef>
                <a:spcPct val="0"/>
              </a:spcBef>
            </a:pPr>
            <a:r>
              <a:rPr lang="en-US" sz="57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have any question , you may ask  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12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9525" y="0"/>
            <a:ext cx="18288000" cy="7043085"/>
          </a:xfrm>
          <a:prstGeom prst="rect">
            <a:avLst/>
          </a:prstGeom>
          <a:solidFill>
            <a:srgbClr val="176BFD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27673" y="3067546"/>
            <a:ext cx="9429920" cy="168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76"/>
              </a:lnSpc>
            </a:pPr>
            <a:r>
              <a:rPr lang="en-US" sz="10366" spc="-311">
                <a:solidFill>
                  <a:srgbClr val="FFFFFF"/>
                </a:solidFill>
                <a:latin typeface="Brice RegularSemiExpanded"/>
                <a:ea typeface="Brice RegularSemiExpanded"/>
                <a:cs typeface="Brice RegularSemiExpanded"/>
                <a:sym typeface="Brice RegularSemiExpanded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216932" y="9157839"/>
            <a:ext cx="1071068" cy="1129161"/>
            <a:chOff x="0" y="0"/>
            <a:chExt cx="812800" cy="8568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56885"/>
            </a:xfrm>
            <a:custGeom>
              <a:avLst/>
              <a:gdLst/>
              <a:ahLst/>
              <a:cxnLst/>
              <a:rect r="r" b="b" t="t" l="l"/>
              <a:pathLst>
                <a:path h="856885" w="812800">
                  <a:moveTo>
                    <a:pt x="406400" y="0"/>
                  </a:moveTo>
                  <a:cubicBezTo>
                    <a:pt x="181951" y="0"/>
                    <a:pt x="0" y="191820"/>
                    <a:pt x="0" y="428443"/>
                  </a:cubicBezTo>
                  <a:cubicBezTo>
                    <a:pt x="0" y="665065"/>
                    <a:pt x="181951" y="856885"/>
                    <a:pt x="406400" y="856885"/>
                  </a:cubicBezTo>
                  <a:cubicBezTo>
                    <a:pt x="630849" y="856885"/>
                    <a:pt x="812800" y="665065"/>
                    <a:pt x="812800" y="428443"/>
                  </a:cubicBezTo>
                  <a:cubicBezTo>
                    <a:pt x="812800" y="1918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BF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133"/>
              <a:ext cx="660400" cy="77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Clear Sans Regular"/>
                  <a:ea typeface="Clear Sans Regular"/>
                  <a:cs typeface="Clear Sans Regular"/>
                  <a:sym typeface="Clear Sans Regular"/>
                </a:rPr>
                <a:t>13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DAGldMAX_QE</dc:identifier>
  <dcterms:modified xsi:type="dcterms:W3CDTF">2011-08-01T06:04:30Z</dcterms:modified>
  <cp:revision>1</cp:revision>
  <dc:title>Time Line</dc:title>
</cp:coreProperties>
</file>