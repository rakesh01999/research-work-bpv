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nva Sans Bold" charset="1" panose="020B0803030501040103"/>
      <p:regular r:id="rId32"/>
    </p:embeddedFont>
    <p:embeddedFont>
      <p:font typeface="Canva Sans" charset="1" panose="020B05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3132584"/>
            <a:ext cx="15380789" cy="309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Electric Vehicle Charging Load Forecasting with an integrated </a:t>
            </a:r>
          </a:p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DeepBoost approach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</a:t>
            </a: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 of 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81748" y="2928327"/>
            <a:ext cx="11292632" cy="615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Introduction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Motivation and Contributions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The Problem: GHG Emissions &amp; EVs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Impact of EVs on Existing Grids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DeepBoost Approach Overview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Component Models: CatBoost, XgBoost, LSTM, LR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Performance Comparison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 Results and Analysis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9. Dataset and Methodology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10. 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Introduction: Th</a:t>
            </a: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7409" y="2038311"/>
            <a:ext cx="1629712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The transportation sector is a major contributor to greenhouse gas emissions, particularly in urban environments, which raises serious concerns about environmental sustainability and public health.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4091067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2.Widespread adoption of Electric Vehicles (EVs) presents a promising solution to mitigate these emissions and promote a more sustainable transportation ecosystem for a greener future.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409" y="6143387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3.EV introduction brings substantial additional load to the existing power grid, potentially leading to operational challenges and requiring careful management to ensure stability.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409" y="819658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4.Accurate forecasting of EV charging load is crucial for effective grid management, resource allocation, and strategic planning to handle the increasing demand from electric vehicles.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GHG Emissions &amp;</a:t>
            </a: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EVs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7409" y="2038311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1.Greenhouse Gas (GHG) emissions are the primary driver of climate change, posing a significant threat to global ecosystems and human well-being, demanding immediate and impactful action.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4091067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2.The transportation sector significantly contributes to these emissions, especially in urban areas, highlighting the urgent need for cleaner and more sustainable transportation alternatives.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409" y="599186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3.Widespread adoption of Electric Vehicles (EVs) offers a viable pathway to substantially reduce emissions, promoting a transition towards environmentally friendly transportation systems.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409" y="819658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4.EVs can significantly contribute to mitigating climate change and fostering sustainability by decreasing reliance on fossil fuels and reducing the carbon footprint of transportation.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on Existing Grid</a:t>
            </a: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7409" y="2038311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1.The increased adoption of Electric Vehicles (EVs) introduces additional load on the existing power grid, potentially straining its capacity and impacting its stability and reliability seriously.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4091067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2.Unmanaged EV charging can lead to peak demand issues, causing overloads, voltage drops, and potential damage to grid infrastructure, requiring strategic planning and mitigation.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409" y="599186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3.Effective forecasting of EV charging load is essential for proactive grid management, allowing utilities to optimize resource allocation and ensure a stable power supply for all consumers.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409" y="819658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4.Advanced forecasting techniques can enable smart charging strategies, which balance EV charging with grid capacity, minimizing negative impacts and maximizing efficiency.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 and</a:t>
            </a: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Contributions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7409" y="2038311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1.The primary motivation is addressing climate change by reducing GHG emissions through EV adoption, recognizing the urgent need for sustainable transportation solutions globally.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4091067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2.The study identifies and aims to solve the problem of increased load on power grids due to EV charging, seeking to prevent adverse effects on grid operation and stability effectively.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409" y="5991860"/>
            <a:ext cx="1655534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3.Development of a novel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DeepBoost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approach, integrating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CatBoost, XgBoost, LSTM, and LR models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to improve the accuracy of day-ahead EV charging station load forecasting.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409" y="819658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4.Comprehensive performance comparison of DeepBoost against conventional and hybrid methodologies, showcasing its potential as a superior forecasting technique for practical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</a:t>
            </a: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review &amp; limitations 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0" y="2390304"/>
          <a:ext cx="3771900" cy="2514600"/>
        </p:xfrm>
        <a:graphic>
          <a:graphicData uri="http://schemas.openxmlformats.org/presentationml/2006/ole">
            <p:oleObj imgW="4521200" imgH="3263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244817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Model: “DeepBoost”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8441" y="1410036"/>
            <a:ext cx="16831118" cy="884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paper proposes DeepBoost to address several gaps identified in the literature: </a:t>
            </a:r>
          </a:p>
          <a:p>
            <a:pPr algn="l">
              <a:lnSpc>
                <a:spcPts val="3689"/>
              </a:lnSpc>
            </a:pPr>
          </a:p>
          <a:p>
            <a:pPr algn="l" marL="568954" indent="-284477" lvl="1">
              <a:lnSpc>
                <a:spcPts val="3689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Enhanced Accuracy &amp; Robustness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By integrating diverse models (LSTM for temporal dependencies and GBDTs for complex non-linear patterns), 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DeepBoost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achieves superior forecasting performance, outperforming individual and other hybrid models. </a:t>
            </a:r>
          </a:p>
          <a:p>
            <a:pPr algn="l" marL="568954" indent="-284477" lvl="1">
              <a:lnSpc>
                <a:spcPts val="3689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Overcoming Limitations of Individual Models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Traditional models like ARIMA are limited in handling non-line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and complex pat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erns. Deep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Boost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combines the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stren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ths 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 deep learning and ensemble meth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overcome these limitations. </a:t>
            </a:r>
          </a:p>
          <a:p>
            <a:pPr algn="l" marL="568954" indent="-284477" lvl="1">
              <a:lnSpc>
                <a:spcPts val="3689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Addressing Generalizability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layered architecture improves the model's ability to perform consistently across different datasets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enhancing its practical applicability. </a:t>
            </a:r>
          </a:p>
          <a:p>
            <a:pPr algn="l" marL="568954" indent="-284477" lvl="1">
              <a:lnSpc>
                <a:spcPts val="3689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Reducing Model Shortcomings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 stacking approach mitigates the overfitting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interpretability issues of complex models by leveraging meta-learning (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LR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parallel training. </a:t>
            </a:r>
          </a:p>
          <a:p>
            <a:pPr algn="l" marL="568954" indent="-284477" lvl="1">
              <a:lnSpc>
                <a:spcPts val="3689"/>
              </a:lnSpc>
              <a:buFont typeface="Arial"/>
              <a:buChar char="•"/>
            </a:pPr>
            <a:r>
              <a:rPr lang="en-US" b="true" sz="26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Facilitating Real-world Application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spite computationa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challenge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the approach aims at providing more accurate day-ahead load forecasts, facilitating energy scheduling and grid stability, ultimately contributing to sustainable EV infrastructure development. </a:t>
            </a:r>
          </a:p>
          <a:p>
            <a:pPr algn="l">
              <a:lnSpc>
                <a:spcPts val="3689"/>
              </a:lnSpc>
            </a:pPr>
          </a:p>
          <a:p>
            <a:pPr algn="l">
              <a:lnSpc>
                <a:spcPts val="3689"/>
              </a:lnSpc>
            </a:pPr>
            <a:r>
              <a:rPr lang="en-US" sz="26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summary, DeepBoost is designed as a comprehensive, hybrid approach to improve the accuracy, robustness, and scalability of EV charging station load forecasting compared to previous models. 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3606" y="4315941"/>
            <a:ext cx="11301259" cy="6201566"/>
          </a:xfrm>
          <a:custGeom>
            <a:avLst/>
            <a:gdLst/>
            <a:ahLst/>
            <a:cxnLst/>
            <a:rect r="r" b="b" t="t" l="l"/>
            <a:pathLst>
              <a:path h="6201566" w="11301259">
                <a:moveTo>
                  <a:pt x="0" y="0"/>
                </a:moveTo>
                <a:lnTo>
                  <a:pt x="11301259" y="0"/>
                </a:lnTo>
                <a:lnTo>
                  <a:pt x="11301259" y="6201566"/>
                </a:lnTo>
                <a:lnTo>
                  <a:pt x="0" y="6201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and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2038311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study utilizes a comprehensive dataset of EV charging station load data, including historical charging patterns, weather conditions, and other relevant factors affecting charging demand trends.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94207" y="4258791"/>
            <a:ext cx="4993793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availability 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datasets available at the github repository: https://github.com/Ubaid014/DeepBoost-for-EVs-charging-station-load forecasting.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1153" y="2717626"/>
            <a:ext cx="15805694" cy="4851748"/>
          </a:xfrm>
          <a:custGeom>
            <a:avLst/>
            <a:gdLst/>
            <a:ahLst/>
            <a:cxnLst/>
            <a:rect r="r" b="b" t="t" l="l"/>
            <a:pathLst>
              <a:path h="4851748" w="15805694">
                <a:moveTo>
                  <a:pt x="0" y="0"/>
                </a:moveTo>
                <a:lnTo>
                  <a:pt x="15805694" y="0"/>
                </a:lnTo>
                <a:lnTo>
                  <a:pt x="15805694" y="4851748"/>
                </a:lnTo>
                <a:lnTo>
                  <a:pt x="0" y="4851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Methodology-Steps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&amp; Approach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3606" y="2444730"/>
            <a:ext cx="16834394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   The methodology involves training and validating the DeepBoost model and its component models using appropriate evaluation metrics, ensuring robust and unbiased performance assessment.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3606" y="4906625"/>
            <a:ext cx="16834394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   The performance of the models is evaluated using metrics such as Mean Absolute Error (MAE), Root Mean Squared Error (RMSE), and Mean Absolute Percentage Error (MAPE) for rigorous comparison.ure.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77557" y="7379337"/>
            <a:ext cx="10244138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•Layer 1: LSTM, CatBoost, XgBoost - parallel training.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•Layer 2: Linear Regression combines outputs.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DeepBoost Approach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7409" y="2038311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1.The DeepBoost approach is a novel integrated method for forecasting day-ahead EV charging station load, designed to improve accuracy and reliability in predictions effectively.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4091067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2.DeepBoost combines the strengths of multiple models, including Categorical Boosting (CatBoost), Extreme Gradient Boosting (XgBoost), Long Short-Term Memory Network (LSTM), and Linear Regression (LR).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409" y="599186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3.By integrating these diverse models, DeepBoost leverages their individual capabilities to capture various patterns and dependencies in the EV charging load data effectively.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409" y="819658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4.The ensemble approach enhances robustness and reduces the risk of relying on a single model, leading to more accurate and stable forecasting results in diverse operating conditions.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5437" y="1868121"/>
            <a:ext cx="11391980" cy="8418879"/>
          </a:xfrm>
          <a:custGeom>
            <a:avLst/>
            <a:gdLst/>
            <a:ahLst/>
            <a:cxnLst/>
            <a:rect r="r" b="b" t="t" l="l"/>
            <a:pathLst>
              <a:path h="8418879" w="11391980">
                <a:moveTo>
                  <a:pt x="0" y="0"/>
                </a:moveTo>
                <a:lnTo>
                  <a:pt x="11391980" y="0"/>
                </a:lnTo>
                <a:lnTo>
                  <a:pt x="11391980" y="8418879"/>
                </a:lnTo>
                <a:lnTo>
                  <a:pt x="0" y="841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DeepBoost Approach Overview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2380987"/>
            <a:ext cx="15380789" cy="1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b="true" sz="70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Component Models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205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1.Long Short-Term Memory Network (LSTM)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7884" y="3867573"/>
            <a:ext cx="1666011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Long Short-Term Memory Network (LSTM) is included to capture temporal dependencies in the EV charging load data, leveraging its ability to model sequential patterns and long-range dependencies.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02380" y="6700943"/>
            <a:ext cx="727248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•Handles long-term dependencies.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•Uses forget, input, and output gates.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2.Extreme Gradient Boosting (XgBoost)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3606" y="3256781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Extreme Gradient Boosting (XgBoost) is employed for its efficiency and accuracy in gradient boosting, enabling the model to capture complex relationships and patterns in the data effectively.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17009" y="6008308"/>
            <a:ext cx="805398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•Efficient, handles missing data.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•Regularized learning to avoid overfitting.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426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3.Categorical Boosting (CatBoost)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3606" y="2861296"/>
            <a:ext cx="16834394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Categorical Boosting (CatBoost) is utilized for its ability to handle categorical features directly and its robust performance with default parameters, simplifying model development and deployment.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59326" y="5732766"/>
            <a:ext cx="7169348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•Handles categorical features.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•Fast and scalable gradient boosting.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4.Linear Regression (LR)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81705"/>
            <a:ext cx="17259300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4.Linear Regression (LR) serves as a base model for capturing linear relationships and providing a stable baseline, contributing to the overall stability and accuracy of the DeepBoost approach.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50159" y="5882716"/>
            <a:ext cx="9787682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•Combines Layer-1 predictions.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•Trains on outputs from LSTM, CatBoost, XgBoost.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1757" y="1979950"/>
            <a:ext cx="11424486" cy="8307050"/>
          </a:xfrm>
          <a:custGeom>
            <a:avLst/>
            <a:gdLst/>
            <a:ahLst/>
            <a:cxnLst/>
            <a:rect r="r" b="b" t="t" l="l"/>
            <a:pathLst>
              <a:path h="8307050" w="11424486">
                <a:moveTo>
                  <a:pt x="0" y="0"/>
                </a:moveTo>
                <a:lnTo>
                  <a:pt x="11424486" y="0"/>
                </a:lnTo>
                <a:lnTo>
                  <a:pt x="11424486" y="8307050"/>
                </a:lnTo>
                <a:lnTo>
                  <a:pt x="0" y="8307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3606" y="719657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Metrics Used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Comparison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7409" y="2038311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1.The DeepBoost approach is rigorously compared against conventional models such as CatBoost, XgBoost, and LSTM to evaluate its performance improvement and effectiveness comprehensively.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4091067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2.Comparison includes Informers, a state-of-the-art time-series forecasting model, to benchmark DeepBoost against advanced deep learning techniques for time-series forecasting.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409" y="599186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3.Hybrid deep learning methodologies are also used for comparison, ensuring a thorough assessment of DeepBoost's performance relative to other integrated forecasting methods currently available.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409" y="819658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4.Performance metrics such as Mean Absolute Error (MAE), Root Mean Squared Error (RMSE), and Mean Absolute Percentage Error (MAPE) are used to quantitatively evaluate the forecasting accuracy of each method.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1623" y="2082235"/>
            <a:ext cx="8927301" cy="3806792"/>
          </a:xfrm>
          <a:custGeom>
            <a:avLst/>
            <a:gdLst/>
            <a:ahLst/>
            <a:cxnLst/>
            <a:rect r="r" b="b" t="t" l="l"/>
            <a:pathLst>
              <a:path h="3806792" w="8927301">
                <a:moveTo>
                  <a:pt x="0" y="0"/>
                </a:moveTo>
                <a:lnTo>
                  <a:pt x="8927301" y="0"/>
                </a:lnTo>
                <a:lnTo>
                  <a:pt x="8927301" y="3806792"/>
                </a:lnTo>
                <a:lnTo>
                  <a:pt x="0" y="3806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773623"/>
            <a:ext cx="8835502" cy="3111365"/>
          </a:xfrm>
          <a:custGeom>
            <a:avLst/>
            <a:gdLst/>
            <a:ahLst/>
            <a:cxnLst/>
            <a:rect r="r" b="b" t="t" l="l"/>
            <a:pathLst>
              <a:path h="3111365" w="8835502">
                <a:moveTo>
                  <a:pt x="0" y="0"/>
                </a:moveTo>
                <a:lnTo>
                  <a:pt x="8835502" y="0"/>
                </a:lnTo>
                <a:lnTo>
                  <a:pt x="8835502" y="3111366"/>
                </a:lnTo>
                <a:lnTo>
                  <a:pt x="0" y="3111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12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46425" y="6961820"/>
            <a:ext cx="9015326" cy="3325180"/>
          </a:xfrm>
          <a:custGeom>
            <a:avLst/>
            <a:gdLst/>
            <a:ahLst/>
            <a:cxnLst/>
            <a:rect r="r" b="b" t="t" l="l"/>
            <a:pathLst>
              <a:path h="3325180" w="9015326">
                <a:moveTo>
                  <a:pt x="0" y="0"/>
                </a:moveTo>
                <a:lnTo>
                  <a:pt x="9015326" y="0"/>
                </a:lnTo>
                <a:lnTo>
                  <a:pt x="9015326" y="3325180"/>
                </a:lnTo>
                <a:lnTo>
                  <a:pt x="0" y="3325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Comparison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546425" y="6327177"/>
            <a:ext cx="9015326" cy="882944"/>
          </a:xfrm>
          <a:custGeom>
            <a:avLst/>
            <a:gdLst/>
            <a:ahLst/>
            <a:cxnLst/>
            <a:rect r="r" b="b" t="t" l="l"/>
            <a:pathLst>
              <a:path h="882944" w="9015326">
                <a:moveTo>
                  <a:pt x="0" y="0"/>
                </a:moveTo>
                <a:lnTo>
                  <a:pt x="9015326" y="0"/>
                </a:lnTo>
                <a:lnTo>
                  <a:pt x="9015326" y="882945"/>
                </a:lnTo>
                <a:lnTo>
                  <a:pt x="0" y="882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54088" y="1995454"/>
            <a:ext cx="9015326" cy="882944"/>
          </a:xfrm>
          <a:custGeom>
            <a:avLst/>
            <a:gdLst/>
            <a:ahLst/>
            <a:cxnLst/>
            <a:rect r="r" b="b" t="t" l="l"/>
            <a:pathLst>
              <a:path h="882944" w="9015326">
                <a:moveTo>
                  <a:pt x="0" y="0"/>
                </a:moveTo>
                <a:lnTo>
                  <a:pt x="9015326" y="0"/>
                </a:lnTo>
                <a:lnTo>
                  <a:pt x="9015326" y="882944"/>
                </a:lnTo>
                <a:lnTo>
                  <a:pt x="0" y="8829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and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7409" y="2038311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1.The results demonstrate that DeepBoost outperforms conventional CatBoost, XgBoost, and LSTM models, achieving higher accuracy and lower error rates in day-ahead EV charging load forecasting.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4091067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2.DeepBoost exhibits superior performance compared to Informers and other hybrid deep learning methodologies, showcasing its effectiveness as a competitive forecasting technique overall.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409" y="599186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3.Analysis reveals that DeepBoost leverages the strengths of its component models, capturing both linear and non-linear patterns in the EV charging load data effectively and adaptively.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409" y="819658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4.The improved forecasting accuracy of DeepBoost has practical implications for grid management, enabling better resource allocation and more efficient operation of EV charging infrastructure.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5356826"/>
            <a:ext cx="11301259" cy="4930174"/>
          </a:xfrm>
          <a:custGeom>
            <a:avLst/>
            <a:gdLst/>
            <a:ahLst/>
            <a:cxnLst/>
            <a:rect r="r" b="b" t="t" l="l"/>
            <a:pathLst>
              <a:path h="4930174" w="11301259">
                <a:moveTo>
                  <a:pt x="0" y="0"/>
                </a:moveTo>
                <a:lnTo>
                  <a:pt x="11301258" y="0"/>
                </a:lnTo>
                <a:lnTo>
                  <a:pt x="11301258" y="4930174"/>
                </a:lnTo>
                <a:lnTo>
                  <a:pt x="0" y="4930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and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2038311"/>
            <a:ext cx="16650591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1.The results demonstrate that DeepBoost outperforms conventional CatBoost, XgBoost, and LSTM models, achieving higher accuracy and lower error rates in day-ahead EV charging load forecasting.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409" y="3830286"/>
            <a:ext cx="16650591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2.DeepBoost exhibits superior performance compared to Informers and other hybrid deep learning methodologies, showcasing its effectiveness as a competitive forecasting technique overall.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3908" y="1198403"/>
            <a:ext cx="10417872" cy="8945608"/>
          </a:xfrm>
          <a:custGeom>
            <a:avLst/>
            <a:gdLst/>
            <a:ahLst/>
            <a:cxnLst/>
            <a:rect r="r" b="b" t="t" l="l"/>
            <a:pathLst>
              <a:path h="8945608" w="10417872">
                <a:moveTo>
                  <a:pt x="0" y="0"/>
                </a:moveTo>
                <a:lnTo>
                  <a:pt x="10417873" y="0"/>
                </a:lnTo>
                <a:lnTo>
                  <a:pt x="10417873" y="8945608"/>
                </a:lnTo>
                <a:lnTo>
                  <a:pt x="0" y="894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3606" y="26033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and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71781" y="1366178"/>
            <a:ext cx="7416219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  Analysis reveals that DeepBoost leverages the strengths of its component models, capturing both linear and non-linear patterns in the EV charging load data effectively and adaptively.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65513" y="5910580"/>
            <a:ext cx="7228754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  The improved forecasting accuracy of DeepBoost has practical implications for grid management, enabling better resource allocation and more efficient operation of EV charging infrastructure.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644682"/>
            <a:ext cx="15380789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&amp;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7409" y="2038311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1.The DeepBoost approach offers a robust and accurate solution for forecasting day-ahead EV charging station load, addressing the increasing demand and grid impact from electric vehicles.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409" y="4091067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2.By integrating CatBoost, XgBoost, LSTM, and LR models, DeepBoost leverages their individual strengths to achieve superior forecasting performance compared to conventional methods.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409" y="599186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3.Future work includes exploring the integration of additional data sources, such as real-time grid conditions and user behavior patterns, to further enhance forecasting accuracy dynamically.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409" y="8196580"/>
            <a:ext cx="166505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4.Further research will focus on optimizing the DeepBoost architecture and exploring adaptive learning techniques to improve its adaptability to changing EV charging patterns in real-world scenarios.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E1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3606" y="3048101"/>
            <a:ext cx="15380789" cy="125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9"/>
              </a:lnSpc>
              <a:spcBef>
                <a:spcPct val="0"/>
              </a:spcBef>
            </a:pPr>
            <a:r>
              <a:rPr lang="en-US" b="true" sz="7399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71764" y="4765675"/>
            <a:ext cx="918001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you have any question you can ask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DAGrDFbd-ko</dc:identifier>
  <dcterms:modified xsi:type="dcterms:W3CDTF">2011-08-01T06:04:30Z</dcterms:modified>
  <cp:revision>1</cp:revision>
  <dc:title> Electric Vehicle charging station load forecasting with an integrated  DeepBoost approach</dc:title>
</cp:coreProperties>
</file>